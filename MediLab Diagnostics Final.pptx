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80" r:id="rId2"/>
    <p:sldId id="257" r:id="rId3"/>
    <p:sldId id="282"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D0ADDF-69DF-4C0E-9431-0043080F7EA0}" type="datetimeFigureOut">
              <a:rPr lang="en-GB" smtClean="0"/>
              <a:t>04/10/2026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E4773F-AD52-4946-A019-52BFCA37A228}" type="slidenum">
              <a:rPr lang="en-GB" smtClean="0"/>
              <a:t>‹#›</a:t>
            </a:fld>
            <a:endParaRPr lang="en-GB"/>
          </a:p>
        </p:txBody>
      </p:sp>
    </p:spTree>
    <p:extLst>
      <p:ext uri="{BB962C8B-B14F-4D97-AF65-F5344CB8AC3E}">
        <p14:creationId xmlns:p14="http://schemas.microsoft.com/office/powerpoint/2010/main" val="2690729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95764D1-F521-47BF-98F8-973FAA37BE76}" type="datetime1">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FA8BFE-40A1-4899-A833-CB8BBDD88140}" type="datetime1">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709062-085D-49B9-9DB7-50F74F46FCB5}" type="datetime1">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6C72F83-0CEC-45F5-9D87-A7D925A633EA}" type="datetime1">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67968A8-732E-4543-9CF1-3925BEC1561F}" type="datetime1">
              <a:rPr lang="en-US" smtClean="0"/>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09E90AA-5B5F-4D4D-A9E9-4E19D9DC91A8}" type="datetime1">
              <a:rPr lang="en-US" smtClean="0"/>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CE0F25-2E58-4C13-AB9C-91207D3F93B6}" type="datetime1">
              <a:rPr lang="en-US" smtClean="0"/>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A98109-DEDD-4DDE-B898-4071F3B574FA}" type="datetime1">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448160-922F-40EB-8A2A-4AA7E7B5E440}" type="datetime1">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35E446-B89D-4BA9-9677-CA5ECD21D328}" type="datetime1">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385034-ABD9-4629-AA5F-66C379E70690}" type="datetime1">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53CC17-18D4-4FA2-B29D-D156E952DB15}" type="datetime1">
              <a:rPr lang="en-US" smtClean="0"/>
              <a:t>10/4/2026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960120"/>
            <a:ext cx="10698480" cy="914400"/>
          </a:xfrm>
          <a:prstGeom prst="rect">
            <a:avLst/>
          </a:prstGeom>
          <a:noFill/>
        </p:spPr>
        <p:txBody>
          <a:bodyPr wrap="none">
            <a:spAutoFit/>
          </a:bodyPr>
          <a:lstStyle/>
          <a:p>
            <a:pPr>
              <a:defRPr sz="3600" b="1">
                <a:solidFill>
                  <a:srgbClr val="FFFFFF"/>
                </a:solidFill>
              </a:defRPr>
            </a:pPr>
            <a:r>
              <a:t>MediLab Diagnostics</a:t>
            </a:r>
          </a:p>
        </p:txBody>
      </p:sp>
      <p:sp>
        <p:nvSpPr>
          <p:cNvPr id="5" name="TextBox 4"/>
          <p:cNvSpPr txBox="1"/>
          <p:nvPr/>
        </p:nvSpPr>
        <p:spPr>
          <a:xfrm>
            <a:off x="713232" y="1828800"/>
            <a:ext cx="7701211" cy="553998"/>
          </a:xfrm>
          <a:prstGeom prst="rect">
            <a:avLst/>
          </a:prstGeom>
          <a:noFill/>
        </p:spPr>
        <p:txBody>
          <a:bodyPr wrap="none">
            <a:spAutoFit/>
          </a:bodyPr>
          <a:lstStyle/>
          <a:p>
            <a:pPr>
              <a:defRPr sz="3000" b="1">
                <a:solidFill>
                  <a:srgbClr val="AAE1D7"/>
                </a:solidFill>
              </a:defRPr>
            </a:pPr>
            <a:r>
              <a:rPr dirty="0"/>
              <a:t>Diagnostic Performance &amp; Revenue Analytics </a:t>
            </a:r>
          </a:p>
        </p:txBody>
      </p:sp>
      <p:pic>
        <p:nvPicPr>
          <p:cNvPr id="7" name="Picture 6">
            <a:extLst>
              <a:ext uri="{FF2B5EF4-FFF2-40B4-BE49-F238E27FC236}">
                <a16:creationId xmlns:a16="http://schemas.microsoft.com/office/drawing/2014/main" id="{DB9FA300-E2A0-71B4-26D8-80569F8688CF}"/>
              </a:ext>
            </a:extLst>
          </p:cNvPr>
          <p:cNvPicPr>
            <a:picLocks noChangeAspect="1"/>
          </p:cNvPicPr>
          <p:nvPr/>
        </p:nvPicPr>
        <p:blipFill>
          <a:blip r:embed="rId2"/>
          <a:stretch>
            <a:fillRect/>
          </a:stretch>
        </p:blipFill>
        <p:spPr>
          <a:xfrm>
            <a:off x="0" y="2251587"/>
            <a:ext cx="12192000" cy="3918212"/>
          </a:xfrm>
          <a:prstGeom prst="rect">
            <a:avLst/>
          </a:prstGeom>
        </p:spPr>
      </p:pic>
      <p:sp>
        <p:nvSpPr>
          <p:cNvPr id="8" name="Slide Number Placeholder 7">
            <a:extLst>
              <a:ext uri="{FF2B5EF4-FFF2-40B4-BE49-F238E27FC236}">
                <a16:creationId xmlns:a16="http://schemas.microsoft.com/office/drawing/2014/main" id="{2F356BD4-A0F9-2344-D6D7-6E7DCAF03795}"/>
              </a:ext>
            </a:extLst>
          </p:cNvPr>
          <p:cNvSpPr>
            <a:spLocks noGrp="1"/>
          </p:cNvSpPr>
          <p:nvPr>
            <p:ph type="sldNum" sz="quarter" idx="12"/>
          </p:nvPr>
        </p:nvSpPr>
        <p:spPr/>
        <p:txBody>
          <a:bodyPr/>
          <a:lstStyle/>
          <a:p>
            <a:fld id="{C1FF6DA9-008F-8B48-92A6-B652298478BF}"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4352474" cy="338554"/>
          </a:xfrm>
          <a:prstGeom prst="rect">
            <a:avLst/>
          </a:prstGeom>
          <a:noFill/>
        </p:spPr>
        <p:txBody>
          <a:bodyPr wrap="none">
            <a:spAutoFit/>
          </a:bodyPr>
          <a:lstStyle/>
          <a:p>
            <a:pPr>
              <a:defRPr sz="2300" b="1">
                <a:solidFill>
                  <a:srgbClr val="FFFFFF"/>
                </a:solidFill>
              </a:defRPr>
            </a:pPr>
            <a:r>
              <a:rPr sz="1600" dirty="0"/>
              <a:t>How this presentation addresses the</a:t>
            </a:r>
            <a:r>
              <a:rPr lang="en-GB" sz="1600" dirty="0"/>
              <a:t> Project Task</a:t>
            </a:r>
            <a:endParaRPr sz="1600" dirty="0"/>
          </a:p>
        </p:txBody>
      </p:sp>
      <p:sp>
        <p:nvSpPr>
          <p:cNvPr id="6" name="Rounded Rectangle 5"/>
          <p:cNvSpPr/>
          <p:nvPr/>
        </p:nvSpPr>
        <p:spPr>
          <a:xfrm>
            <a:off x="594360" y="914400"/>
            <a:ext cx="11155680" cy="509311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lang="en-GB" sz="2800" dirty="0"/>
              <a:t>Task A</a:t>
            </a:r>
            <a:r>
              <a:rPr sz="2800" dirty="0" err="1"/>
              <a:t>pproach</a:t>
            </a:r>
            <a:endParaRPr sz="2800" dirty="0"/>
          </a:p>
          <a:p>
            <a:pPr marL="285750" indent="-285750">
              <a:spcBef>
                <a:spcPts val="500"/>
              </a:spcBef>
              <a:buFont typeface="Arial" panose="020B0604020202020204" pitchFamily="34" charset="0"/>
              <a:buChar char="•"/>
              <a:defRPr sz="1200">
                <a:solidFill>
                  <a:srgbClr val="26303A"/>
                </a:solidFill>
              </a:defRPr>
            </a:pPr>
            <a:r>
              <a:rPr sz="1600" dirty="0"/>
              <a:t>Answer each business question with the most relevant dashboard visual.</a:t>
            </a:r>
          </a:p>
          <a:p>
            <a:pPr marL="285750" indent="-285750">
              <a:spcBef>
                <a:spcPts val="500"/>
              </a:spcBef>
              <a:buFont typeface="Arial" panose="020B0604020202020204" pitchFamily="34" charset="0"/>
              <a:buChar char="•"/>
              <a:defRPr sz="1200">
                <a:solidFill>
                  <a:srgbClr val="26303A"/>
                </a:solidFill>
              </a:defRPr>
            </a:pPr>
            <a:r>
              <a:rPr sz="1600" dirty="0"/>
              <a:t>Explain what the visual says using the numbers visible in the final dashboard.</a:t>
            </a:r>
          </a:p>
          <a:p>
            <a:pPr marL="285750" indent="-285750">
              <a:spcBef>
                <a:spcPts val="500"/>
              </a:spcBef>
              <a:buFont typeface="Arial" panose="020B0604020202020204" pitchFamily="34" charset="0"/>
              <a:buChar char="•"/>
              <a:defRPr sz="1200">
                <a:solidFill>
                  <a:srgbClr val="26303A"/>
                </a:solidFill>
              </a:defRPr>
            </a:pPr>
            <a:r>
              <a:rPr sz="1600" dirty="0"/>
              <a:t>Explain why the finding matters to </a:t>
            </a:r>
            <a:r>
              <a:rPr sz="1600" dirty="0" err="1"/>
              <a:t>MediLab's</a:t>
            </a:r>
            <a:r>
              <a:rPr sz="1600" dirty="0"/>
              <a:t> diagnostic, operational and financial performance.</a:t>
            </a:r>
          </a:p>
          <a:p>
            <a:pPr marL="285750" indent="-285750">
              <a:spcBef>
                <a:spcPts val="500"/>
              </a:spcBef>
              <a:buFont typeface="Arial" panose="020B0604020202020204" pitchFamily="34" charset="0"/>
              <a:buChar char="•"/>
              <a:defRPr sz="1200">
                <a:solidFill>
                  <a:srgbClr val="26303A"/>
                </a:solidFill>
              </a:defRPr>
            </a:pPr>
            <a:r>
              <a:rPr sz="1600" dirty="0"/>
              <a:t>Provide practical recommendations backed by the observed evidence.</a:t>
            </a:r>
          </a:p>
        </p:txBody>
      </p:sp>
      <p:sp>
        <p:nvSpPr>
          <p:cNvPr id="10" name="Slide Number Placeholder 9">
            <a:extLst>
              <a:ext uri="{FF2B5EF4-FFF2-40B4-BE49-F238E27FC236}">
                <a16:creationId xmlns:a16="http://schemas.microsoft.com/office/drawing/2014/main" id="{BDA2D3DD-AFB3-FBD4-0AA1-8B55DB0BB2D0}"/>
              </a:ext>
            </a:extLst>
          </p:cNvPr>
          <p:cNvSpPr>
            <a:spLocks noGrp="1"/>
          </p:cNvSpPr>
          <p:nvPr>
            <p:ph type="sldNum" sz="quarter" idx="12"/>
          </p:nvPr>
        </p:nvSpPr>
        <p:spPr/>
        <p:txBody>
          <a:bodyPr/>
          <a:lstStyle/>
          <a:p>
            <a:fld id="{C1FF6DA9-008F-8B48-92A6-B652298478BF}"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4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784080" cy="384048"/>
          </a:xfrm>
          <a:prstGeom prst="rect">
            <a:avLst/>
          </a:prstGeom>
          <a:noFill/>
        </p:spPr>
        <p:txBody>
          <a:bodyPr wrap="none">
            <a:spAutoFit/>
          </a:bodyPr>
          <a:lstStyle/>
          <a:p>
            <a:pPr>
              <a:defRPr sz="2500" b="1">
                <a:solidFill>
                  <a:srgbClr val="FFFFFF"/>
                </a:solidFill>
              </a:defRPr>
            </a:pPr>
            <a:r>
              <a:t>Executive Summary</a:t>
            </a:r>
          </a:p>
        </p:txBody>
      </p:sp>
      <p:sp>
        <p:nvSpPr>
          <p:cNvPr id="6" name="Rounded Rectangle 5"/>
          <p:cNvSpPr/>
          <p:nvPr/>
        </p:nvSpPr>
        <p:spPr>
          <a:xfrm>
            <a:off x="502920" y="914400"/>
            <a:ext cx="5486400" cy="2057400"/>
          </a:xfrm>
          <a:prstGeom prst="roundRect">
            <a:avLst/>
          </a:prstGeom>
          <a:solidFill>
            <a:srgbClr val="FFFFFF"/>
          </a:solidFill>
          <a:ln>
            <a:solidFill>
              <a:srgbClr val="DCE5ED"/>
            </a:solidFill>
          </a:ln>
        </p:spPr>
        <p:style>
          <a:lnRef idx="1">
            <a:schemeClr val="accent1"/>
          </a:lnRef>
          <a:fillRef idx="3">
            <a:schemeClr val="accent1"/>
          </a:fillRef>
          <a:effectRef idx="2">
            <a:schemeClr val="accent1"/>
          </a:effectRef>
          <a:fontRef idx="minor">
            <a:schemeClr val="lt1"/>
          </a:fontRef>
        </p:style>
        <p:txBody>
          <a:bodyPr lIns="164592" tIns="109728" rIns="137160" rtlCol="0" anchor="ctr"/>
          <a:lstStyle/>
          <a:p>
            <a:pPr algn="ctr">
              <a:defRPr sz="1500" b="1">
                <a:solidFill>
                  <a:srgbClr val="14365C"/>
                </a:solidFill>
              </a:defRPr>
            </a:pPr>
            <a:r>
              <a:rPr sz="1400" dirty="0"/>
              <a:t>Headline performance</a:t>
            </a:r>
          </a:p>
          <a:p>
            <a:pPr>
              <a:spcBef>
                <a:spcPts val="600"/>
              </a:spcBef>
              <a:defRPr sz="1150">
                <a:solidFill>
                  <a:srgbClr val="232D37"/>
                </a:solidFill>
              </a:defRPr>
            </a:pPr>
            <a:r>
              <a:rPr sz="1400" dirty="0"/>
              <a:t>91.16M total revenue, 53.08M total profit and 58.22% profit margin.</a:t>
            </a:r>
          </a:p>
          <a:p>
            <a:pPr>
              <a:spcBef>
                <a:spcPts val="600"/>
              </a:spcBef>
              <a:defRPr sz="1150">
                <a:solidFill>
                  <a:srgbClr val="232D37"/>
                </a:solidFill>
              </a:defRPr>
            </a:pPr>
            <a:r>
              <a:rPr sz="1400" dirty="0"/>
              <a:t>3.79K patients and 12K tests </a:t>
            </a:r>
            <a:r>
              <a:rPr lang="en-GB" sz="1400" dirty="0"/>
              <a:t>during the period under review</a:t>
            </a:r>
            <a:r>
              <a:rPr sz="1400" dirty="0"/>
              <a:t>.</a:t>
            </a:r>
          </a:p>
          <a:p>
            <a:pPr>
              <a:spcBef>
                <a:spcPts val="600"/>
              </a:spcBef>
              <a:defRPr sz="1150">
                <a:solidFill>
                  <a:srgbClr val="232D37"/>
                </a:solidFill>
              </a:defRPr>
            </a:pPr>
            <a:r>
              <a:rPr sz="1400" dirty="0"/>
              <a:t>The Patient/Financial dashboard reports 90.13% completion, 24.06K revenue per patient and 3.17 tests per patient.</a:t>
            </a:r>
          </a:p>
        </p:txBody>
      </p:sp>
      <p:sp>
        <p:nvSpPr>
          <p:cNvPr id="7" name="Rounded Rectangle 6"/>
          <p:cNvSpPr/>
          <p:nvPr/>
        </p:nvSpPr>
        <p:spPr>
          <a:xfrm>
            <a:off x="6199632" y="914400"/>
            <a:ext cx="5468112" cy="2057400"/>
          </a:xfrm>
          <a:prstGeom prst="roundRect">
            <a:avLst/>
          </a:prstGeom>
          <a:solidFill>
            <a:srgbClr val="F7FBF8"/>
          </a:solidFill>
          <a:ln>
            <a:solidFill>
              <a:srgbClr val="DCE5ED"/>
            </a:solidFill>
          </a:ln>
        </p:spPr>
        <p:style>
          <a:lnRef idx="1">
            <a:schemeClr val="accent1"/>
          </a:lnRef>
          <a:fillRef idx="3">
            <a:schemeClr val="accent1"/>
          </a:fillRef>
          <a:effectRef idx="2">
            <a:schemeClr val="accent1"/>
          </a:effectRef>
          <a:fontRef idx="minor">
            <a:schemeClr val="lt1"/>
          </a:fontRef>
        </p:style>
        <p:txBody>
          <a:bodyPr lIns="164592" tIns="109728" rIns="137160" rtlCol="0" anchor="ctr"/>
          <a:lstStyle/>
          <a:p>
            <a:pPr algn="ctr">
              <a:defRPr sz="1500" b="1">
                <a:solidFill>
                  <a:srgbClr val="1C7A37"/>
                </a:solidFill>
              </a:defRPr>
            </a:pPr>
            <a:r>
              <a:rPr sz="1400" dirty="0"/>
              <a:t>Demand &amp; service mix</a:t>
            </a:r>
          </a:p>
          <a:p>
            <a:pPr>
              <a:spcBef>
                <a:spcPts val="600"/>
              </a:spcBef>
              <a:defRPr sz="1150">
                <a:solidFill>
                  <a:srgbClr val="232D37"/>
                </a:solidFill>
              </a:defRPr>
            </a:pPr>
            <a:r>
              <a:rPr sz="1400" dirty="0"/>
              <a:t>Clinical Chemistry, Molecular Diagnostics and Hormonal Assay generate about 73.5% of total revenue.</a:t>
            </a:r>
          </a:p>
          <a:p>
            <a:pPr>
              <a:spcBef>
                <a:spcPts val="600"/>
              </a:spcBef>
              <a:defRPr sz="1150">
                <a:solidFill>
                  <a:srgbClr val="232D37"/>
                </a:solidFill>
              </a:defRPr>
            </a:pPr>
            <a:r>
              <a:rPr sz="1400" dirty="0"/>
              <a:t>Walk-in customers contribute 33.0M, the largest customer-type revenue stream.</a:t>
            </a:r>
          </a:p>
          <a:p>
            <a:pPr>
              <a:spcBef>
                <a:spcPts val="600"/>
              </a:spcBef>
              <a:defRPr sz="1150">
                <a:solidFill>
                  <a:srgbClr val="232D37"/>
                </a:solidFill>
              </a:defRPr>
            </a:pPr>
            <a:r>
              <a:rPr sz="1400" dirty="0"/>
              <a:t>Histopathology has the highest average turnaround time at 3.0 days.</a:t>
            </a:r>
          </a:p>
        </p:txBody>
      </p:sp>
      <p:sp>
        <p:nvSpPr>
          <p:cNvPr id="8" name="Rounded Rectangle 7"/>
          <p:cNvSpPr/>
          <p:nvPr/>
        </p:nvSpPr>
        <p:spPr>
          <a:xfrm>
            <a:off x="502920" y="3246120"/>
            <a:ext cx="5486400" cy="2057400"/>
          </a:xfrm>
          <a:prstGeom prst="roundRect">
            <a:avLst/>
          </a:prstGeom>
          <a:solidFill>
            <a:srgbClr val="F8F9FC"/>
          </a:solidFill>
          <a:ln>
            <a:solidFill>
              <a:srgbClr val="DCE5ED"/>
            </a:solidFill>
          </a:ln>
        </p:spPr>
        <p:style>
          <a:lnRef idx="1">
            <a:schemeClr val="accent1"/>
          </a:lnRef>
          <a:fillRef idx="3">
            <a:schemeClr val="accent1"/>
          </a:fillRef>
          <a:effectRef idx="2">
            <a:schemeClr val="accent1"/>
          </a:effectRef>
          <a:fontRef idx="minor">
            <a:schemeClr val="lt1"/>
          </a:fontRef>
        </p:style>
        <p:txBody>
          <a:bodyPr lIns="164592" tIns="109728" rIns="137160" rtlCol="0" anchor="ctr"/>
          <a:lstStyle/>
          <a:p>
            <a:pPr algn="ctr">
              <a:defRPr sz="1500" b="1">
                <a:solidFill>
                  <a:srgbClr val="2D5C8C"/>
                </a:solidFill>
              </a:defRPr>
            </a:pPr>
            <a:r>
              <a:rPr sz="1400" dirty="0"/>
              <a:t>Operational signals</a:t>
            </a:r>
          </a:p>
          <a:p>
            <a:pPr>
              <a:spcBef>
                <a:spcPts val="600"/>
              </a:spcBef>
              <a:defRPr sz="1150">
                <a:solidFill>
                  <a:srgbClr val="232D37"/>
                </a:solidFill>
              </a:defRPr>
            </a:pPr>
            <a:r>
              <a:rPr sz="1400" dirty="0"/>
              <a:t>90.13% of requests are completed; 6.46% are inconclusive and 3.42% are cancelled.</a:t>
            </a:r>
          </a:p>
          <a:p>
            <a:pPr>
              <a:spcBef>
                <a:spcPts val="600"/>
              </a:spcBef>
              <a:defRPr sz="1150">
                <a:solidFill>
                  <a:srgbClr val="232D37"/>
                </a:solidFill>
              </a:defRPr>
            </a:pPr>
            <a:r>
              <a:rPr sz="1400" dirty="0"/>
              <a:t>Monthly test volume ranges from 623 to 1,403 in the displayed period.</a:t>
            </a:r>
          </a:p>
          <a:p>
            <a:pPr>
              <a:spcBef>
                <a:spcPts val="600"/>
              </a:spcBef>
              <a:defRPr sz="1150">
                <a:solidFill>
                  <a:srgbClr val="232D37"/>
                </a:solidFill>
              </a:defRPr>
            </a:pPr>
            <a:r>
              <a:rPr sz="1400" dirty="0"/>
              <a:t>Regional test volume is concentrated in South West, Lagos and South.</a:t>
            </a:r>
          </a:p>
        </p:txBody>
      </p:sp>
      <p:sp>
        <p:nvSpPr>
          <p:cNvPr id="10" name="Rectangle 9"/>
          <p:cNvSpPr/>
          <p:nvPr/>
        </p:nvSpPr>
        <p:spPr>
          <a:xfrm>
            <a:off x="411480" y="6565392"/>
            <a:ext cx="11338560" cy="18288"/>
          </a:xfrm>
          <a:prstGeom prst="rect">
            <a:avLst/>
          </a:prstGeom>
          <a:solidFill>
            <a:srgbClr val="DC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lide Number Placeholder 4">
            <a:extLst>
              <a:ext uri="{FF2B5EF4-FFF2-40B4-BE49-F238E27FC236}">
                <a16:creationId xmlns:a16="http://schemas.microsoft.com/office/drawing/2014/main" id="{89F31CAD-D8A4-5C1F-09AB-B930C4C36480}"/>
              </a:ext>
            </a:extLst>
          </p:cNvPr>
          <p:cNvSpPr>
            <a:spLocks noGrp="1"/>
          </p:cNvSpPr>
          <p:nvPr>
            <p:ph type="sldNum" sz="quarter" idx="12"/>
          </p:nvPr>
        </p:nvSpPr>
        <p:spPr/>
        <p:txBody>
          <a:bodyPr/>
          <a:lstStyle/>
          <a:p>
            <a:fld id="{C1FF6DA9-008F-8B48-92A6-B652298478BF}"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7684219" cy="338554"/>
          </a:xfrm>
          <a:prstGeom prst="rect">
            <a:avLst/>
          </a:prstGeom>
          <a:noFill/>
        </p:spPr>
        <p:txBody>
          <a:bodyPr wrap="none">
            <a:spAutoFit/>
          </a:bodyPr>
          <a:lstStyle/>
          <a:p>
            <a:pPr>
              <a:defRPr sz="2300" b="1">
                <a:solidFill>
                  <a:srgbClr val="FFFFFF"/>
                </a:solidFill>
              </a:defRPr>
            </a:pPr>
            <a:r>
              <a:rPr sz="1600" dirty="0"/>
              <a:t>Q1. How active has </a:t>
            </a:r>
            <a:r>
              <a:rPr sz="1600" dirty="0" err="1"/>
              <a:t>MediLab's</a:t>
            </a:r>
            <a:r>
              <a:rPr sz="1600" dirty="0"/>
              <a:t> diagnostic network been during the period under review?</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023931"/>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The network processed 12K tests for 3.79K patients and generated 91.16M in revenue. The 3.17 tests-per-patient KPI on the financial page also indicates repeat diagnostic activity.</a:t>
            </a:r>
          </a:p>
        </p:txBody>
      </p:sp>
      <p:sp>
        <p:nvSpPr>
          <p:cNvPr id="9" name="Rounded Rectangle 8"/>
          <p:cNvSpPr/>
          <p:nvPr/>
        </p:nvSpPr>
        <p:spPr>
          <a:xfrm>
            <a:off x="7223760" y="2025446"/>
            <a:ext cx="4526280" cy="1966451"/>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12K total tests is the clearest measure of diagnostic activity shown on the Executive dashboard.</a:t>
            </a:r>
          </a:p>
          <a:p>
            <a:pPr>
              <a:spcBef>
                <a:spcPts val="500"/>
              </a:spcBef>
              <a:defRPr sz="1050">
                <a:solidFill>
                  <a:srgbClr val="26303A"/>
                </a:solidFill>
              </a:defRPr>
            </a:pPr>
            <a:r>
              <a:rPr sz="1200" dirty="0"/>
              <a:t>3.79K patients generated 12K tests, indicating multiple tests per patient rather than one test per patient.</a:t>
            </a:r>
          </a:p>
          <a:p>
            <a:pPr>
              <a:spcBef>
                <a:spcPts val="500"/>
              </a:spcBef>
              <a:defRPr sz="1050">
                <a:solidFill>
                  <a:srgbClr val="26303A"/>
                </a:solidFill>
              </a:defRPr>
            </a:pPr>
            <a:r>
              <a:rPr sz="1200" dirty="0"/>
              <a:t>The activity base is financially material: 91.16M revenue and 53.08M profit are reported.</a:t>
            </a:r>
          </a:p>
        </p:txBody>
      </p:sp>
      <p:sp>
        <p:nvSpPr>
          <p:cNvPr id="10" name="Rounded Rectangle 9"/>
          <p:cNvSpPr/>
          <p:nvPr/>
        </p:nvSpPr>
        <p:spPr>
          <a:xfrm>
            <a:off x="7223760" y="4159045"/>
            <a:ext cx="4526280" cy="2197305"/>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a:t>Use total tests, unique patients and tests per patient as the core activity KPIs.</a:t>
            </a:r>
          </a:p>
          <a:p>
            <a:pPr>
              <a:spcBef>
                <a:spcPts val="500"/>
              </a:spcBef>
              <a:defRPr sz="1000">
                <a:solidFill>
                  <a:srgbClr val="26303A"/>
                </a:solidFill>
              </a:defRPr>
            </a:pPr>
            <a:r>
              <a:rPr sz="1200" dirty="0"/>
              <a:t>Monitor activity by month, region and customer type to identify where growth is coming from.</a:t>
            </a:r>
          </a:p>
          <a:p>
            <a:pPr>
              <a:spcBef>
                <a:spcPts val="500"/>
              </a:spcBef>
              <a:defRPr sz="1000">
                <a:solidFill>
                  <a:srgbClr val="26303A"/>
                </a:solidFill>
              </a:defRPr>
            </a:pPr>
            <a:r>
              <a:rPr sz="1200" dirty="0"/>
              <a:t>Use volume and financial KPIs together so growth is assessed for both scale and value.</a:t>
            </a:r>
            <a:endParaRPr lang="en-GB" sz="1200" dirty="0"/>
          </a:p>
          <a:p>
            <a:pPr>
              <a:spcBef>
                <a:spcPts val="500"/>
              </a:spcBef>
              <a:defRPr sz="1000">
                <a:solidFill>
                  <a:srgbClr val="26303A"/>
                </a:solidFill>
              </a:defRPr>
            </a:pPr>
            <a:r>
              <a:rPr lang="en-US" sz="1200" dirty="0"/>
              <a:t>Align staffing and consumables with expected demand peaks and troughs.</a:t>
            </a:r>
          </a:p>
          <a:p>
            <a:pPr>
              <a:spcBef>
                <a:spcPts val="500"/>
              </a:spcBef>
              <a:defRPr sz="1000">
                <a:solidFill>
                  <a:srgbClr val="26303A"/>
                </a:solidFill>
              </a:defRPr>
            </a:pPr>
            <a:endParaRPr dirty="0"/>
          </a:p>
        </p:txBody>
      </p:sp>
      <p:pic>
        <p:nvPicPr>
          <p:cNvPr id="16" name="Picture 15">
            <a:extLst>
              <a:ext uri="{FF2B5EF4-FFF2-40B4-BE49-F238E27FC236}">
                <a16:creationId xmlns:a16="http://schemas.microsoft.com/office/drawing/2014/main" id="{BF0A7BF7-0263-0262-595C-6A6C6A604C70}"/>
              </a:ext>
            </a:extLst>
          </p:cNvPr>
          <p:cNvPicPr>
            <a:picLocks noChangeAspect="1"/>
          </p:cNvPicPr>
          <p:nvPr/>
        </p:nvPicPr>
        <p:blipFill>
          <a:blip r:embed="rId2"/>
          <a:stretch>
            <a:fillRect/>
          </a:stretch>
        </p:blipFill>
        <p:spPr>
          <a:xfrm>
            <a:off x="530943" y="1809135"/>
            <a:ext cx="6415754" cy="3490452"/>
          </a:xfrm>
          <a:prstGeom prst="rect">
            <a:avLst/>
          </a:prstGeom>
        </p:spPr>
      </p:pic>
      <p:sp>
        <p:nvSpPr>
          <p:cNvPr id="17" name="Slide Number Placeholder 16">
            <a:extLst>
              <a:ext uri="{FF2B5EF4-FFF2-40B4-BE49-F238E27FC236}">
                <a16:creationId xmlns:a16="http://schemas.microsoft.com/office/drawing/2014/main" id="{986F9B35-3EC7-89B2-9D36-92A45B784A0F}"/>
              </a:ext>
            </a:extLst>
          </p:cNvPr>
          <p:cNvSpPr>
            <a:spLocks noGrp="1"/>
          </p:cNvSpPr>
          <p:nvPr>
            <p:ph type="sldNum" sz="quarter" idx="12"/>
          </p:nvPr>
        </p:nvSpPr>
        <p:spPr/>
        <p:txBody>
          <a:bodyPr/>
          <a:lstStyle/>
          <a:p>
            <a:fld id="{C1FF6DA9-008F-8B48-92A6-B652298478BF}"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7014869" cy="338554"/>
          </a:xfrm>
          <a:prstGeom prst="rect">
            <a:avLst/>
          </a:prstGeom>
          <a:noFill/>
        </p:spPr>
        <p:txBody>
          <a:bodyPr wrap="none">
            <a:spAutoFit/>
          </a:bodyPr>
          <a:lstStyle/>
          <a:p>
            <a:pPr>
              <a:defRPr sz="2300" b="1">
                <a:solidFill>
                  <a:srgbClr val="FFFFFF"/>
                </a:solidFill>
              </a:defRPr>
            </a:pPr>
            <a:r>
              <a:rPr sz="1600" dirty="0"/>
              <a:t>Q2. How has diagnostic activity and its financial contribution evolved over time?</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Diagnostic volume and profit move together. Tests are high from January–June, fall sharply in July, remain low through November, and rise slightly in December; the profit line follows the same broad pattern.</a:t>
            </a:r>
          </a:p>
        </p:txBody>
      </p:sp>
      <p:sp>
        <p:nvSpPr>
          <p:cNvPr id="9" name="Rounded Rectangle 8"/>
          <p:cNvSpPr/>
          <p:nvPr/>
        </p:nvSpPr>
        <p:spPr>
          <a:xfrm>
            <a:off x="7223760" y="2350009"/>
            <a:ext cx="4526280" cy="1766062"/>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Monthly tests peak at 1,403 in March and remain above 1,250 through June.</a:t>
            </a:r>
          </a:p>
          <a:p>
            <a:pPr>
              <a:spcBef>
                <a:spcPts val="500"/>
              </a:spcBef>
              <a:defRPr sz="1050">
                <a:solidFill>
                  <a:srgbClr val="26303A"/>
                </a:solidFill>
              </a:defRPr>
            </a:pPr>
            <a:r>
              <a:rPr sz="1200" dirty="0"/>
              <a:t>Volume drops to 657 in July and reaches a low of 623 in September.</a:t>
            </a:r>
          </a:p>
          <a:p>
            <a:pPr>
              <a:spcBef>
                <a:spcPts val="500"/>
              </a:spcBef>
              <a:defRPr sz="1050">
                <a:solidFill>
                  <a:srgbClr val="26303A"/>
                </a:solidFill>
              </a:defRPr>
            </a:pPr>
            <a:r>
              <a:rPr sz="1200" dirty="0"/>
              <a:t>The profit line also falls materially after June, indicating that lower diagnostic activity is associated with lower financial contribution.</a:t>
            </a:r>
          </a:p>
        </p:txBody>
      </p:sp>
      <p:sp>
        <p:nvSpPr>
          <p:cNvPr id="10" name="Rounded Rectangle 9"/>
          <p:cNvSpPr/>
          <p:nvPr/>
        </p:nvSpPr>
        <p:spPr>
          <a:xfrm>
            <a:off x="7223760" y="4208206"/>
            <a:ext cx="4526280" cy="2148144"/>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a:t>Investigate the July volume break and the sustained lower activity through December.</a:t>
            </a:r>
          </a:p>
          <a:p>
            <a:pPr>
              <a:spcBef>
                <a:spcPts val="500"/>
              </a:spcBef>
              <a:defRPr sz="1000">
                <a:solidFill>
                  <a:srgbClr val="26303A"/>
                </a:solidFill>
              </a:defRPr>
            </a:pPr>
            <a:r>
              <a:rPr sz="1200" dirty="0"/>
              <a:t>Align staffing, consumables and capacity with the observed demand cycle.</a:t>
            </a:r>
          </a:p>
          <a:p>
            <a:pPr>
              <a:spcBef>
                <a:spcPts val="500"/>
              </a:spcBef>
              <a:defRPr sz="1000">
                <a:solidFill>
                  <a:srgbClr val="26303A"/>
                </a:solidFill>
              </a:defRPr>
            </a:pPr>
            <a:r>
              <a:rPr sz="1200" dirty="0"/>
              <a:t>Add a prior-period or year-on-year comparison to distinguish seasonality from structural decline.</a:t>
            </a:r>
            <a:endParaRPr lang="en-GB" sz="1200" dirty="0"/>
          </a:p>
          <a:p>
            <a:pPr>
              <a:spcBef>
                <a:spcPts val="500"/>
              </a:spcBef>
              <a:defRPr sz="1000">
                <a:solidFill>
                  <a:srgbClr val="26303A"/>
                </a:solidFill>
              </a:defRPr>
            </a:pPr>
            <a:r>
              <a:rPr lang="en-US" sz="1200" dirty="0"/>
              <a:t>Use monthly volume and profit together for staffing, campaign and capacity planning.</a:t>
            </a:r>
            <a:endParaRPr sz="1200" dirty="0"/>
          </a:p>
        </p:txBody>
      </p:sp>
      <p:pic>
        <p:nvPicPr>
          <p:cNvPr id="14" name="Picture 13" descr="p1_month_combo.png">
            <a:extLst>
              <a:ext uri="{FF2B5EF4-FFF2-40B4-BE49-F238E27FC236}">
                <a16:creationId xmlns:a16="http://schemas.microsoft.com/office/drawing/2014/main" id="{9EC80DA7-29F0-3B28-0588-51B0F0B4308F}"/>
              </a:ext>
            </a:extLst>
          </p:cNvPr>
          <p:cNvPicPr>
            <a:picLocks noChangeAspect="1"/>
          </p:cNvPicPr>
          <p:nvPr/>
        </p:nvPicPr>
        <p:blipFill>
          <a:blip r:embed="rId2"/>
          <a:stretch>
            <a:fillRect/>
          </a:stretch>
        </p:blipFill>
        <p:spPr>
          <a:xfrm>
            <a:off x="566928" y="1817005"/>
            <a:ext cx="6400800" cy="3361150"/>
          </a:xfrm>
          <a:prstGeom prst="rect">
            <a:avLst/>
          </a:prstGeom>
        </p:spPr>
      </p:pic>
      <p:sp>
        <p:nvSpPr>
          <p:cNvPr id="15" name="Slide Number Placeholder 14">
            <a:extLst>
              <a:ext uri="{FF2B5EF4-FFF2-40B4-BE49-F238E27FC236}">
                <a16:creationId xmlns:a16="http://schemas.microsoft.com/office/drawing/2014/main" id="{D800D5C7-30F3-B685-2EFF-B64A69E2F164}"/>
              </a:ext>
            </a:extLst>
          </p:cNvPr>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7739811" cy="338554"/>
          </a:xfrm>
          <a:prstGeom prst="rect">
            <a:avLst/>
          </a:prstGeom>
          <a:noFill/>
        </p:spPr>
        <p:txBody>
          <a:bodyPr wrap="none">
            <a:spAutoFit/>
          </a:bodyPr>
          <a:lstStyle/>
          <a:p>
            <a:pPr>
              <a:defRPr sz="2300" b="1">
                <a:solidFill>
                  <a:srgbClr val="FFFFFF"/>
                </a:solidFill>
              </a:defRPr>
            </a:pPr>
            <a:r>
              <a:rPr sz="1600" dirty="0"/>
              <a:t>Q3. Where is the greatest concentration of diagnostic activity across </a:t>
            </a:r>
            <a:r>
              <a:rPr sz="1600" dirty="0" err="1"/>
              <a:t>MediLab's</a:t>
            </a:r>
            <a:r>
              <a:rPr sz="1600" dirty="0"/>
              <a:t> network?</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Diagnostic activity is concentrated in South West, Lagos and South, while South East and North have materially lower volumes.</a:t>
            </a:r>
          </a:p>
        </p:txBody>
      </p:sp>
      <p:sp>
        <p:nvSpPr>
          <p:cNvPr id="9" name="Rounded Rectangle 8"/>
          <p:cNvSpPr/>
          <p:nvPr/>
        </p:nvSpPr>
        <p:spPr>
          <a:xfrm>
            <a:off x="7223760" y="2542032"/>
            <a:ext cx="4526280" cy="1874519"/>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South West leads with 3.1K tests, followed by Lagos at 3.0K and South at 2.9K.</a:t>
            </a:r>
          </a:p>
          <a:p>
            <a:pPr>
              <a:spcBef>
                <a:spcPts val="500"/>
              </a:spcBef>
              <a:defRPr sz="1050">
                <a:solidFill>
                  <a:srgbClr val="26303A"/>
                </a:solidFill>
              </a:defRPr>
            </a:pPr>
            <a:r>
              <a:rPr sz="1200" dirty="0"/>
              <a:t>South East records 1.6K and North 1.5K, approximately half the volume of the leading regions.</a:t>
            </a:r>
          </a:p>
          <a:p>
            <a:pPr>
              <a:spcBef>
                <a:spcPts val="500"/>
              </a:spcBef>
              <a:defRPr sz="1050">
                <a:solidFill>
                  <a:srgbClr val="26303A"/>
                </a:solidFill>
              </a:defRPr>
            </a:pPr>
            <a:r>
              <a:rPr sz="1200" dirty="0"/>
              <a:t>The top three areas therefore account for roughly three quarters of the regional test volume shown.</a:t>
            </a:r>
          </a:p>
        </p:txBody>
      </p:sp>
      <p:sp>
        <p:nvSpPr>
          <p:cNvPr id="10" name="Rounded Rectangle 9"/>
          <p:cNvSpPr/>
          <p:nvPr/>
        </p:nvSpPr>
        <p:spPr>
          <a:xfrm>
            <a:off x="7223760" y="4617720"/>
            <a:ext cx="4526280" cy="1572768"/>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a:t>Protect capacity and service quality in the three highest-volume areas.</a:t>
            </a:r>
          </a:p>
          <a:p>
            <a:pPr>
              <a:spcBef>
                <a:spcPts val="500"/>
              </a:spcBef>
              <a:defRPr sz="1000">
                <a:solidFill>
                  <a:srgbClr val="26303A"/>
                </a:solidFill>
              </a:defRPr>
            </a:pPr>
            <a:r>
              <a:rPr sz="1200" dirty="0"/>
              <a:t>Investigate lower activity in North and South East: referral reach, branch capacity, accessibility and demand.</a:t>
            </a:r>
          </a:p>
          <a:p>
            <a:pPr>
              <a:spcBef>
                <a:spcPts val="500"/>
              </a:spcBef>
              <a:defRPr sz="1000">
                <a:solidFill>
                  <a:srgbClr val="26303A"/>
                </a:solidFill>
              </a:defRPr>
            </a:pPr>
            <a:r>
              <a:rPr sz="1200" dirty="0"/>
              <a:t>Use regional volume trends to guide equipment, staffing and commercial investment.</a:t>
            </a:r>
          </a:p>
        </p:txBody>
      </p:sp>
      <p:pic>
        <p:nvPicPr>
          <p:cNvPr id="14" name="Picture 13">
            <a:extLst>
              <a:ext uri="{FF2B5EF4-FFF2-40B4-BE49-F238E27FC236}">
                <a16:creationId xmlns:a16="http://schemas.microsoft.com/office/drawing/2014/main" id="{1DB3791E-E1E8-0284-D3A2-A190E30C6D66}"/>
              </a:ext>
            </a:extLst>
          </p:cNvPr>
          <p:cNvPicPr>
            <a:picLocks noChangeAspect="1"/>
          </p:cNvPicPr>
          <p:nvPr/>
        </p:nvPicPr>
        <p:blipFill>
          <a:blip r:embed="rId2"/>
          <a:stretch>
            <a:fillRect/>
          </a:stretch>
        </p:blipFill>
        <p:spPr>
          <a:xfrm>
            <a:off x="943897" y="1504336"/>
            <a:ext cx="5838208" cy="3830392"/>
          </a:xfrm>
          <a:prstGeom prst="rect">
            <a:avLst/>
          </a:prstGeom>
        </p:spPr>
      </p:pic>
      <p:sp>
        <p:nvSpPr>
          <p:cNvPr id="15" name="Slide Number Placeholder 14">
            <a:extLst>
              <a:ext uri="{FF2B5EF4-FFF2-40B4-BE49-F238E27FC236}">
                <a16:creationId xmlns:a16="http://schemas.microsoft.com/office/drawing/2014/main" id="{DC7D46F0-2FE6-4843-09AE-BC9730532172}"/>
              </a:ext>
            </a:extLst>
          </p:cNvPr>
          <p:cNvSpPr>
            <a:spLocks noGrp="1"/>
          </p:cNvSpPr>
          <p:nvPr>
            <p:ph type="sldNum" sz="quarter" idx="12"/>
          </p:nvPr>
        </p:nvSpPr>
        <p:spPr/>
        <p:txBody>
          <a:bodyPr/>
          <a:lstStyle/>
          <a:p>
            <a:fld id="{C1FF6DA9-008F-8B48-92A6-B652298478BF}"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8014566" cy="338554"/>
          </a:xfrm>
          <a:prstGeom prst="rect">
            <a:avLst/>
          </a:prstGeom>
          <a:noFill/>
        </p:spPr>
        <p:txBody>
          <a:bodyPr wrap="none">
            <a:spAutoFit/>
          </a:bodyPr>
          <a:lstStyle/>
          <a:p>
            <a:pPr>
              <a:defRPr sz="2300" b="1">
                <a:solidFill>
                  <a:srgbClr val="FFFFFF"/>
                </a:solidFill>
              </a:defRPr>
            </a:pPr>
            <a:r>
              <a:rPr sz="1600" dirty="0"/>
              <a:t>Q4. Which diagnostic services are contributing most significantly to the company's revenue?</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Clinical Chemistry, Molecular Diagnostics and Hormonal Assay are the leading revenue-generating test categories.</a:t>
            </a:r>
          </a:p>
        </p:txBody>
      </p:sp>
      <p:sp>
        <p:nvSpPr>
          <p:cNvPr id="9" name="Rounded Rectangle 8"/>
          <p:cNvSpPr/>
          <p:nvPr/>
        </p:nvSpPr>
        <p:spPr>
          <a:xfrm>
            <a:off x="7223760" y="2542032"/>
            <a:ext cx="4526280" cy="1874519"/>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Clinical Chemistry generates 24M, Molecular Diagnostics 22M and Hormonal Assay 21M.</a:t>
            </a:r>
          </a:p>
          <a:p>
            <a:pPr>
              <a:spcBef>
                <a:spcPts val="500"/>
              </a:spcBef>
              <a:defRPr sz="1050">
                <a:solidFill>
                  <a:srgbClr val="26303A"/>
                </a:solidFill>
              </a:defRPr>
            </a:pPr>
            <a:r>
              <a:rPr sz="1200" dirty="0"/>
              <a:t>Together, these three categories generate about 67M, approximately 73% of the 91.16M total revenue.</a:t>
            </a:r>
          </a:p>
          <a:p>
            <a:pPr>
              <a:spcBef>
                <a:spcPts val="500"/>
              </a:spcBef>
              <a:defRPr sz="1050">
                <a:solidFill>
                  <a:srgbClr val="26303A"/>
                </a:solidFill>
              </a:defRPr>
            </a:pPr>
            <a:r>
              <a:rPr sz="1200" dirty="0"/>
              <a:t>The remaining categories contribute materially less revenue individually.</a:t>
            </a:r>
          </a:p>
        </p:txBody>
      </p:sp>
      <p:sp>
        <p:nvSpPr>
          <p:cNvPr id="10" name="Rounded Rectangle 9"/>
          <p:cNvSpPr/>
          <p:nvPr/>
        </p:nvSpPr>
        <p:spPr>
          <a:xfrm>
            <a:off x="7223760" y="4608575"/>
            <a:ext cx="4526280" cy="1747775"/>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a:t>Protect capacity, quality and uptime in the three leading revenue categories.</a:t>
            </a:r>
          </a:p>
          <a:p>
            <a:pPr>
              <a:spcBef>
                <a:spcPts val="500"/>
              </a:spcBef>
              <a:defRPr sz="1000">
                <a:solidFill>
                  <a:srgbClr val="26303A"/>
                </a:solidFill>
              </a:defRPr>
            </a:pPr>
            <a:r>
              <a:rPr sz="1200" dirty="0"/>
              <a:t>Review growth opportunities in the lower-revenue categories before committing additional capacity.</a:t>
            </a:r>
          </a:p>
          <a:p>
            <a:pPr>
              <a:spcBef>
                <a:spcPts val="500"/>
              </a:spcBef>
              <a:defRPr sz="1000">
                <a:solidFill>
                  <a:srgbClr val="26303A"/>
                </a:solidFill>
              </a:defRPr>
            </a:pPr>
            <a:r>
              <a:rPr sz="1200" dirty="0"/>
              <a:t>Evaluate revenue alongside profit margin and turnaround time before making service-mix decisions.</a:t>
            </a:r>
          </a:p>
        </p:txBody>
      </p:sp>
      <p:pic>
        <p:nvPicPr>
          <p:cNvPr id="14" name="Picture 13" descr="p1_rev_cat.png">
            <a:extLst>
              <a:ext uri="{FF2B5EF4-FFF2-40B4-BE49-F238E27FC236}">
                <a16:creationId xmlns:a16="http://schemas.microsoft.com/office/drawing/2014/main" id="{B817B356-DDD5-DADA-CAAA-566CA3ACB611}"/>
              </a:ext>
            </a:extLst>
          </p:cNvPr>
          <p:cNvPicPr>
            <a:picLocks noChangeAspect="1"/>
          </p:cNvPicPr>
          <p:nvPr/>
        </p:nvPicPr>
        <p:blipFill>
          <a:blip r:embed="rId2"/>
          <a:stretch>
            <a:fillRect/>
          </a:stretch>
        </p:blipFill>
        <p:spPr>
          <a:xfrm>
            <a:off x="615236" y="1097280"/>
            <a:ext cx="6304184" cy="4800600"/>
          </a:xfrm>
          <a:prstGeom prst="rect">
            <a:avLst/>
          </a:prstGeom>
        </p:spPr>
      </p:pic>
      <p:sp>
        <p:nvSpPr>
          <p:cNvPr id="15" name="Slide Number Placeholder 14">
            <a:extLst>
              <a:ext uri="{FF2B5EF4-FFF2-40B4-BE49-F238E27FC236}">
                <a16:creationId xmlns:a16="http://schemas.microsoft.com/office/drawing/2014/main" id="{012658B9-CD02-65DB-955F-104D21EEDBE6}"/>
              </a:ext>
            </a:extLst>
          </p:cNvPr>
          <p:cNvSpPr>
            <a:spLocks noGrp="1"/>
          </p:cNvSpPr>
          <p:nvPr>
            <p:ph type="sldNum" sz="quarter" idx="12"/>
          </p:nvPr>
        </p:nvSpPr>
        <p:spPr/>
        <p:txBody>
          <a:bodyPr/>
          <a:lstStyle/>
          <a:p>
            <a:fld id="{C1FF6DA9-008F-8B48-92A6-B652298478BF}"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7664149" cy="338554"/>
          </a:xfrm>
          <a:prstGeom prst="rect">
            <a:avLst/>
          </a:prstGeom>
          <a:noFill/>
        </p:spPr>
        <p:txBody>
          <a:bodyPr wrap="none">
            <a:spAutoFit/>
          </a:bodyPr>
          <a:lstStyle/>
          <a:p>
            <a:pPr>
              <a:defRPr sz="2300" b="1">
                <a:solidFill>
                  <a:srgbClr val="FFFFFF"/>
                </a:solidFill>
              </a:defRPr>
            </a:pPr>
            <a:r>
              <a:rPr sz="1600" dirty="0"/>
              <a:t>Q5. How efficiently is </a:t>
            </a:r>
            <a:r>
              <a:rPr sz="1600" dirty="0" err="1"/>
              <a:t>MediLab</a:t>
            </a:r>
            <a:r>
              <a:rPr sz="1600" dirty="0"/>
              <a:t> turning test requests into completed diagnostic services?</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lang="en-US" dirty="0"/>
              <a:t>Answer</a:t>
            </a:r>
          </a:p>
          <a:p>
            <a:pPr>
              <a:spcBef>
                <a:spcPts val="500"/>
              </a:spcBef>
              <a:defRPr sz="1100">
                <a:solidFill>
                  <a:srgbClr val="26303A"/>
                </a:solidFill>
              </a:defRPr>
            </a:pPr>
            <a:r>
              <a:rPr lang="en-GB" sz="1100" b="1" dirty="0">
                <a:solidFill>
                  <a:srgbClr val="26303A"/>
                </a:solidFill>
              </a:rPr>
              <a:t>90.1%</a:t>
            </a:r>
            <a:r>
              <a:rPr lang="en-GB" sz="1100" dirty="0">
                <a:solidFill>
                  <a:srgbClr val="26303A"/>
                </a:solidFill>
              </a:rPr>
              <a:t> of all test requests are completed, </a:t>
            </a:r>
          </a:p>
          <a:p>
            <a:pPr>
              <a:spcBef>
                <a:spcPts val="500"/>
              </a:spcBef>
              <a:defRPr sz="1100">
                <a:solidFill>
                  <a:srgbClr val="26303A"/>
                </a:solidFill>
              </a:defRPr>
            </a:pPr>
            <a:r>
              <a:rPr lang="en-GB" sz="1100" b="1" dirty="0">
                <a:solidFill>
                  <a:srgbClr val="26303A"/>
                </a:solidFill>
              </a:rPr>
              <a:t>6.5%</a:t>
            </a:r>
            <a:r>
              <a:rPr lang="en-GB" sz="1100" dirty="0">
                <a:solidFill>
                  <a:srgbClr val="26303A"/>
                </a:solidFill>
              </a:rPr>
              <a:t> cancelled, </a:t>
            </a:r>
          </a:p>
          <a:p>
            <a:pPr>
              <a:spcBef>
                <a:spcPts val="500"/>
              </a:spcBef>
              <a:defRPr sz="1100">
                <a:solidFill>
                  <a:srgbClr val="26303A"/>
                </a:solidFill>
              </a:defRPr>
            </a:pPr>
            <a:r>
              <a:rPr lang="en-GB" sz="1100" b="1" dirty="0">
                <a:solidFill>
                  <a:srgbClr val="26303A"/>
                </a:solidFill>
              </a:rPr>
              <a:t>3.4%</a:t>
            </a:r>
            <a:r>
              <a:rPr lang="en-GB" sz="1100" dirty="0">
                <a:solidFill>
                  <a:srgbClr val="26303A"/>
                </a:solidFill>
              </a:rPr>
              <a:t> pending</a:t>
            </a:r>
            <a:endParaRPr lang="en-US" dirty="0"/>
          </a:p>
        </p:txBody>
      </p:sp>
      <p:sp>
        <p:nvSpPr>
          <p:cNvPr id="9" name="Rounded Rectangle 8"/>
          <p:cNvSpPr/>
          <p:nvPr/>
        </p:nvSpPr>
        <p:spPr>
          <a:xfrm>
            <a:off x="7223760" y="2542032"/>
            <a:ext cx="4526280" cy="1233555"/>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endParaRPr lang="en-GB" dirty="0"/>
          </a:p>
          <a:p>
            <a:pPr>
              <a:spcBef>
                <a:spcPts val="600"/>
              </a:spcBef>
              <a:defRPr sz="1150">
                <a:solidFill>
                  <a:srgbClr val="232D37"/>
                </a:solidFill>
              </a:defRPr>
            </a:pPr>
            <a:r>
              <a:rPr lang="en-GB" sz="1050" dirty="0">
                <a:solidFill>
                  <a:srgbClr val="232D37"/>
                </a:solidFill>
              </a:rPr>
              <a:t>While 90% is a good score, the remaining 10% represents a significant amount of lost business. </a:t>
            </a:r>
          </a:p>
          <a:p>
            <a:pPr>
              <a:spcBef>
                <a:spcPts val="600"/>
              </a:spcBef>
              <a:defRPr sz="1150">
                <a:solidFill>
                  <a:srgbClr val="232D37"/>
                </a:solidFill>
              </a:defRPr>
            </a:pPr>
            <a:r>
              <a:rPr lang="en-GB" sz="1050" dirty="0">
                <a:solidFill>
                  <a:srgbClr val="232D37"/>
                </a:solidFill>
              </a:rPr>
              <a:t>This 10% is lost revenue and wasted resources.</a:t>
            </a:r>
            <a:endParaRPr lang="en-GB" sz="1050" dirty="0"/>
          </a:p>
          <a:p>
            <a:pPr>
              <a:spcBef>
                <a:spcPts val="500"/>
              </a:spcBef>
              <a:defRPr sz="1050">
                <a:solidFill>
                  <a:srgbClr val="26303A"/>
                </a:solidFill>
              </a:defRPr>
            </a:pPr>
            <a:endParaRPr lang="en-US" dirty="0"/>
          </a:p>
        </p:txBody>
      </p:sp>
      <p:sp>
        <p:nvSpPr>
          <p:cNvPr id="10" name="Rounded Rectangle 9"/>
          <p:cNvSpPr/>
          <p:nvPr/>
        </p:nvSpPr>
        <p:spPr>
          <a:xfrm>
            <a:off x="7223760" y="3873910"/>
            <a:ext cx="4526280" cy="2316578"/>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600"/>
              </a:spcBef>
              <a:defRPr sz="1150">
                <a:solidFill>
                  <a:srgbClr val="232D37"/>
                </a:solidFill>
              </a:defRPr>
            </a:pPr>
            <a:r>
              <a:rPr lang="en-US" sz="1200" dirty="0">
                <a:solidFill>
                  <a:srgbClr val="232D37"/>
                </a:solidFill>
              </a:rPr>
              <a:t>Implement a system for logging the specific reason every time a test is cancelled. such as: "Patient No-Show," "Incorrect Test Ordered," "Payment Declined," "Sample Rejected," "Patient Cancelled.“</a:t>
            </a:r>
          </a:p>
          <a:p>
            <a:pPr>
              <a:spcBef>
                <a:spcPts val="600"/>
              </a:spcBef>
              <a:defRPr sz="1150">
                <a:solidFill>
                  <a:srgbClr val="232D37"/>
                </a:solidFill>
              </a:defRPr>
            </a:pPr>
            <a:r>
              <a:rPr lang="en-US" sz="1200" dirty="0">
                <a:solidFill>
                  <a:srgbClr val="232D37"/>
                </a:solidFill>
              </a:rPr>
              <a:t>Identify bottlenecks in the workflow of Pending tests and review the workflow for those tests. E.g. operational capacity or training needs</a:t>
            </a:r>
            <a:r>
              <a:rPr lang="en-US" sz="1000" dirty="0">
                <a:solidFill>
                  <a:srgbClr val="232D37"/>
                </a:solidFill>
              </a:rPr>
              <a:t>.</a:t>
            </a:r>
            <a:endParaRPr lang="en-US" sz="1000" dirty="0"/>
          </a:p>
          <a:p>
            <a:pPr>
              <a:spcBef>
                <a:spcPts val="500"/>
              </a:spcBef>
              <a:defRPr sz="1000">
                <a:solidFill>
                  <a:srgbClr val="26303A"/>
                </a:solidFill>
              </a:defRPr>
            </a:pPr>
            <a:endParaRPr dirty="0"/>
          </a:p>
        </p:txBody>
      </p:sp>
      <p:pic>
        <p:nvPicPr>
          <p:cNvPr id="14" name="Picture 13" descr="p1_completion.png">
            <a:extLst>
              <a:ext uri="{FF2B5EF4-FFF2-40B4-BE49-F238E27FC236}">
                <a16:creationId xmlns:a16="http://schemas.microsoft.com/office/drawing/2014/main" id="{9B97C032-19AD-FC42-1EA8-715B26B9CB08}"/>
              </a:ext>
            </a:extLst>
          </p:cNvPr>
          <p:cNvPicPr>
            <a:picLocks noChangeAspect="1"/>
          </p:cNvPicPr>
          <p:nvPr/>
        </p:nvPicPr>
        <p:blipFill>
          <a:blip r:embed="rId2"/>
          <a:stretch>
            <a:fillRect/>
          </a:stretch>
        </p:blipFill>
        <p:spPr>
          <a:xfrm>
            <a:off x="1001765" y="1097280"/>
            <a:ext cx="5531126" cy="4800600"/>
          </a:xfrm>
          <a:prstGeom prst="rect">
            <a:avLst/>
          </a:prstGeom>
        </p:spPr>
      </p:pic>
      <p:sp>
        <p:nvSpPr>
          <p:cNvPr id="15" name="Slide Number Placeholder 14">
            <a:extLst>
              <a:ext uri="{FF2B5EF4-FFF2-40B4-BE49-F238E27FC236}">
                <a16:creationId xmlns:a16="http://schemas.microsoft.com/office/drawing/2014/main" id="{ED3978E0-9A78-C8AB-C0D5-3E4353A7168C}"/>
              </a:ext>
            </a:extLst>
          </p:cNvPr>
          <p:cNvSpPr>
            <a:spLocks noGrp="1"/>
          </p:cNvSpPr>
          <p:nvPr>
            <p:ph type="sldNum" sz="quarter" idx="12"/>
          </p:nvPr>
        </p:nvSpPr>
        <p:spPr/>
        <p:txBody>
          <a:bodyPr/>
          <a:lstStyle/>
          <a:p>
            <a:fld id="{C1FF6DA9-008F-8B48-92A6-B652298478BF}"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6603731" cy="338554"/>
          </a:xfrm>
          <a:prstGeom prst="rect">
            <a:avLst/>
          </a:prstGeom>
          <a:noFill/>
        </p:spPr>
        <p:txBody>
          <a:bodyPr wrap="none">
            <a:spAutoFit/>
          </a:bodyPr>
          <a:lstStyle/>
          <a:p>
            <a:pPr>
              <a:defRPr sz="2300" b="1">
                <a:solidFill>
                  <a:srgbClr val="FFFFFF"/>
                </a:solidFill>
              </a:defRPr>
            </a:pPr>
            <a:r>
              <a:rPr sz="1600" dirty="0"/>
              <a:t>Q6. Where are operational delays most evident across the branch network?</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Histopathology has the longest average turnaround time, followed by Molecular Diagnostics and Hormonal Assay.</a:t>
            </a:r>
          </a:p>
        </p:txBody>
      </p:sp>
      <p:sp>
        <p:nvSpPr>
          <p:cNvPr id="9" name="Rounded Rectangle 8"/>
          <p:cNvSpPr/>
          <p:nvPr/>
        </p:nvSpPr>
        <p:spPr>
          <a:xfrm>
            <a:off x="7223760" y="2542033"/>
            <a:ext cx="4526280" cy="1572768"/>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Histopathology averages 3.0 days, the highest turnaround time shown.</a:t>
            </a:r>
          </a:p>
          <a:p>
            <a:pPr>
              <a:spcBef>
                <a:spcPts val="500"/>
              </a:spcBef>
              <a:defRPr sz="1050">
                <a:solidFill>
                  <a:srgbClr val="26303A"/>
                </a:solidFill>
              </a:defRPr>
            </a:pPr>
            <a:r>
              <a:rPr sz="1200" dirty="0"/>
              <a:t>Molecular Diagnostics averages 2.0 days and Hormonal Assay 1.5 days.</a:t>
            </a:r>
          </a:p>
          <a:p>
            <a:pPr>
              <a:spcBef>
                <a:spcPts val="500"/>
              </a:spcBef>
              <a:defRPr sz="1050">
                <a:solidFill>
                  <a:srgbClr val="26303A"/>
                </a:solidFill>
              </a:defRPr>
            </a:pPr>
            <a:r>
              <a:rPr sz="1200" dirty="0" err="1"/>
              <a:t>Haematology</a:t>
            </a:r>
            <a:r>
              <a:rPr sz="1200" dirty="0"/>
              <a:t> is fastest at 0.4 days, with Clinical Chemistry at 0.5 days.</a:t>
            </a:r>
          </a:p>
        </p:txBody>
      </p:sp>
      <p:sp>
        <p:nvSpPr>
          <p:cNvPr id="10" name="Rounded Rectangle 9"/>
          <p:cNvSpPr/>
          <p:nvPr/>
        </p:nvSpPr>
        <p:spPr>
          <a:xfrm>
            <a:off x="7223760" y="4114801"/>
            <a:ext cx="4526280" cy="2075687"/>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err="1"/>
              <a:t>Prioritise</a:t>
            </a:r>
            <a:r>
              <a:rPr sz="1200" dirty="0"/>
              <a:t> workflow analysis for Histopathology and Molecular Diagnostics.</a:t>
            </a:r>
          </a:p>
          <a:p>
            <a:pPr>
              <a:spcBef>
                <a:spcPts val="500"/>
              </a:spcBef>
              <a:defRPr sz="1000">
                <a:solidFill>
                  <a:srgbClr val="26303A"/>
                </a:solidFill>
              </a:defRPr>
            </a:pPr>
            <a:r>
              <a:rPr sz="1200" dirty="0"/>
              <a:t>Break turnaround time into collection, processing, analysis and reporting stages to find bottlenecks.</a:t>
            </a:r>
          </a:p>
          <a:p>
            <a:pPr>
              <a:spcBef>
                <a:spcPts val="500"/>
              </a:spcBef>
              <a:defRPr sz="1000">
                <a:solidFill>
                  <a:srgbClr val="26303A"/>
                </a:solidFill>
              </a:defRPr>
            </a:pPr>
            <a:r>
              <a:rPr sz="1200" dirty="0"/>
              <a:t>Set category-specific turnaround targets rather than relying only on the overall 1.04-day average.</a:t>
            </a:r>
          </a:p>
        </p:txBody>
      </p:sp>
      <p:pic>
        <p:nvPicPr>
          <p:cNvPr id="14" name="Picture 13">
            <a:extLst>
              <a:ext uri="{FF2B5EF4-FFF2-40B4-BE49-F238E27FC236}">
                <a16:creationId xmlns:a16="http://schemas.microsoft.com/office/drawing/2014/main" id="{A15376B8-ECD4-8CD8-4CF0-4E4750270532}"/>
              </a:ext>
            </a:extLst>
          </p:cNvPr>
          <p:cNvPicPr>
            <a:picLocks noChangeAspect="1"/>
          </p:cNvPicPr>
          <p:nvPr/>
        </p:nvPicPr>
        <p:blipFill>
          <a:blip r:embed="rId2"/>
          <a:stretch>
            <a:fillRect/>
          </a:stretch>
        </p:blipFill>
        <p:spPr>
          <a:xfrm>
            <a:off x="570271" y="1317524"/>
            <a:ext cx="6269441" cy="4316360"/>
          </a:xfrm>
          <a:prstGeom prst="rect">
            <a:avLst/>
          </a:prstGeom>
        </p:spPr>
      </p:pic>
      <p:sp>
        <p:nvSpPr>
          <p:cNvPr id="15" name="Slide Number Placeholder 14">
            <a:extLst>
              <a:ext uri="{FF2B5EF4-FFF2-40B4-BE49-F238E27FC236}">
                <a16:creationId xmlns:a16="http://schemas.microsoft.com/office/drawing/2014/main" id="{1A8FF0AA-75FC-952E-1562-EB711A453905}"/>
              </a:ext>
            </a:extLst>
          </p:cNvPr>
          <p:cNvSpPr>
            <a:spLocks noGrp="1"/>
          </p:cNvSpPr>
          <p:nvPr>
            <p:ph type="sldNum" sz="quarter" idx="12"/>
          </p:nvPr>
        </p:nvSpPr>
        <p:spPr/>
        <p:txBody>
          <a:bodyPr/>
          <a:lstStyle/>
          <a:p>
            <a:fld id="{C1FF6DA9-008F-8B48-92A6-B652298478BF}"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8900770" cy="307777"/>
          </a:xfrm>
          <a:prstGeom prst="rect">
            <a:avLst/>
          </a:prstGeom>
          <a:noFill/>
        </p:spPr>
        <p:txBody>
          <a:bodyPr wrap="none">
            <a:spAutoFit/>
          </a:bodyPr>
          <a:lstStyle/>
          <a:p>
            <a:pPr>
              <a:defRPr sz="2300" b="1">
                <a:solidFill>
                  <a:srgbClr val="FFFFFF"/>
                </a:solidFill>
              </a:defRPr>
            </a:pPr>
            <a:r>
              <a:rPr sz="1400" dirty="0"/>
              <a:t>Q7. What does the distribution of completed, cancelled and pending requests tell us about operational performance?</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Completed requests dominate at 90.13%. The remaining 9.87% consists of 6.46% inconclusive and 3.42% cancelled requests.</a:t>
            </a:r>
          </a:p>
        </p:txBody>
      </p:sp>
      <p:sp>
        <p:nvSpPr>
          <p:cNvPr id="9" name="Rounded Rectangle 8"/>
          <p:cNvSpPr/>
          <p:nvPr/>
        </p:nvSpPr>
        <p:spPr>
          <a:xfrm>
            <a:off x="7223760" y="2542033"/>
            <a:ext cx="4526280" cy="141732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Completion is strong at 90.13% of requests.</a:t>
            </a:r>
          </a:p>
          <a:p>
            <a:pPr>
              <a:spcBef>
                <a:spcPts val="500"/>
              </a:spcBef>
              <a:defRPr sz="1050">
                <a:solidFill>
                  <a:srgbClr val="26303A"/>
                </a:solidFill>
              </a:defRPr>
            </a:pPr>
            <a:r>
              <a:rPr sz="1200" dirty="0"/>
              <a:t>Inconclusive results are the largest non-completed component at 6.46%.</a:t>
            </a:r>
          </a:p>
          <a:p>
            <a:pPr>
              <a:spcBef>
                <a:spcPts val="500"/>
              </a:spcBef>
              <a:defRPr sz="1050">
                <a:solidFill>
                  <a:srgbClr val="26303A"/>
                </a:solidFill>
              </a:defRPr>
            </a:pPr>
            <a:r>
              <a:rPr sz="1200" dirty="0"/>
              <a:t>Cancelled requests account for 3.42%, making them a smaller but still measurable source of lost throughput.</a:t>
            </a:r>
          </a:p>
        </p:txBody>
      </p:sp>
      <p:sp>
        <p:nvSpPr>
          <p:cNvPr id="10" name="Rounded Rectangle 9"/>
          <p:cNvSpPr/>
          <p:nvPr/>
        </p:nvSpPr>
        <p:spPr>
          <a:xfrm>
            <a:off x="7223760" y="4125215"/>
            <a:ext cx="4526280" cy="2065273"/>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a:t>Investigate why tests become inconclusive, particularly by test category and branch.</a:t>
            </a:r>
          </a:p>
          <a:p>
            <a:pPr>
              <a:spcBef>
                <a:spcPts val="500"/>
              </a:spcBef>
              <a:defRPr sz="1000">
                <a:solidFill>
                  <a:srgbClr val="26303A"/>
                </a:solidFill>
              </a:defRPr>
            </a:pPr>
            <a:r>
              <a:rPr sz="1200" dirty="0" err="1"/>
              <a:t>Analyse</a:t>
            </a:r>
            <a:r>
              <a:rPr sz="1200" dirty="0"/>
              <a:t> cancellation reasons and identify preventable cancellations.</a:t>
            </a:r>
          </a:p>
          <a:p>
            <a:pPr>
              <a:spcBef>
                <a:spcPts val="500"/>
              </a:spcBef>
              <a:defRPr sz="1000">
                <a:solidFill>
                  <a:srgbClr val="26303A"/>
                </a:solidFill>
              </a:defRPr>
            </a:pPr>
            <a:r>
              <a:rPr sz="1200" dirty="0"/>
              <a:t>Monitor completed, inconclusive and cancelled rates as an operational quality dashboard.</a:t>
            </a:r>
          </a:p>
        </p:txBody>
      </p:sp>
      <p:sp>
        <p:nvSpPr>
          <p:cNvPr id="11" name="TextBox 10"/>
          <p:cNvSpPr txBox="1"/>
          <p:nvPr/>
        </p:nvSpPr>
        <p:spPr>
          <a:xfrm>
            <a:off x="457200" y="6565392"/>
            <a:ext cx="7315200" cy="164592"/>
          </a:xfrm>
          <a:prstGeom prst="rect">
            <a:avLst/>
          </a:prstGeom>
          <a:noFill/>
        </p:spPr>
        <p:txBody>
          <a:bodyPr wrap="none">
            <a:spAutoFit/>
          </a:bodyPr>
          <a:lstStyle/>
          <a:p>
            <a:pPr>
              <a:defRPr sz="800">
                <a:solidFill>
                  <a:srgbClr val="69737D"/>
                </a:solidFill>
              </a:defRPr>
            </a:pPr>
            <a:r>
              <a:t>MediLab Diagnostics | Data Analytics Capstone</a:t>
            </a:r>
          </a:p>
        </p:txBody>
      </p:sp>
      <p:pic>
        <p:nvPicPr>
          <p:cNvPr id="14" name="Picture 13" descr="p2_status.png">
            <a:extLst>
              <a:ext uri="{FF2B5EF4-FFF2-40B4-BE49-F238E27FC236}">
                <a16:creationId xmlns:a16="http://schemas.microsoft.com/office/drawing/2014/main" id="{96C53260-337A-7E6C-24F8-EFBEED5C104E}"/>
              </a:ext>
            </a:extLst>
          </p:cNvPr>
          <p:cNvPicPr>
            <a:picLocks noChangeAspect="1"/>
          </p:cNvPicPr>
          <p:nvPr/>
        </p:nvPicPr>
        <p:blipFill>
          <a:blip r:embed="rId2"/>
          <a:stretch>
            <a:fillRect/>
          </a:stretch>
        </p:blipFill>
        <p:spPr>
          <a:xfrm>
            <a:off x="766953" y="1097280"/>
            <a:ext cx="6000750" cy="4800600"/>
          </a:xfrm>
          <a:prstGeom prst="rect">
            <a:avLst/>
          </a:prstGeom>
        </p:spPr>
      </p:pic>
      <p:sp>
        <p:nvSpPr>
          <p:cNvPr id="15" name="Slide Number Placeholder 14">
            <a:extLst>
              <a:ext uri="{FF2B5EF4-FFF2-40B4-BE49-F238E27FC236}">
                <a16:creationId xmlns:a16="http://schemas.microsoft.com/office/drawing/2014/main" id="{13DAC92B-5DA2-4F31-A653-2E249895A33F}"/>
              </a:ext>
            </a:extLst>
          </p:cNvPr>
          <p:cNvSpPr>
            <a:spLocks noGrp="1"/>
          </p:cNvSpPr>
          <p:nvPr>
            <p:ph type="sldNum" sz="quarter" idx="12"/>
          </p:nvPr>
        </p:nvSpPr>
        <p:spPr/>
        <p:txBody>
          <a:bodyPr/>
          <a:lstStyle/>
          <a:p>
            <a:fld id="{C1FF6DA9-008F-8B48-92A6-B652298478BF}"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7352077" cy="338554"/>
          </a:xfrm>
          <a:prstGeom prst="rect">
            <a:avLst/>
          </a:prstGeom>
          <a:noFill/>
        </p:spPr>
        <p:txBody>
          <a:bodyPr wrap="none">
            <a:spAutoFit/>
          </a:bodyPr>
          <a:lstStyle/>
          <a:p>
            <a:pPr>
              <a:defRPr sz="2300" b="1">
                <a:solidFill>
                  <a:srgbClr val="FFFFFF"/>
                </a:solidFill>
              </a:defRPr>
            </a:pPr>
            <a:r>
              <a:rPr sz="1600" dirty="0"/>
              <a:t>Q8. Which customer groups are driving the greatest demand for </a:t>
            </a:r>
            <a:r>
              <a:rPr sz="1600" dirty="0" err="1"/>
              <a:t>MediLab's</a:t>
            </a:r>
            <a:r>
              <a:rPr sz="1600" dirty="0"/>
              <a:t> services?</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The customer-type revenue view shows Walk-in customers as the largest displayed segment, followed by HMO and Corporate customers. In this dashboard, revenue is being used as the practical proxy for demand.</a:t>
            </a:r>
          </a:p>
        </p:txBody>
      </p:sp>
      <p:sp>
        <p:nvSpPr>
          <p:cNvPr id="9" name="Rounded Rectangle 8"/>
          <p:cNvSpPr/>
          <p:nvPr/>
        </p:nvSpPr>
        <p:spPr>
          <a:xfrm>
            <a:off x="7223760" y="2542032"/>
            <a:ext cx="4526280" cy="1572769"/>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Walk-in customers generate 33.0M, clearly ahead of HMO at 17.9M and Corporate at 17.3M.</a:t>
            </a:r>
          </a:p>
          <a:p>
            <a:pPr>
              <a:spcBef>
                <a:spcPts val="500"/>
              </a:spcBef>
              <a:defRPr sz="1050">
                <a:solidFill>
                  <a:srgbClr val="26303A"/>
                </a:solidFill>
              </a:defRPr>
            </a:pPr>
            <a:r>
              <a:rPr sz="1200" dirty="0"/>
              <a:t>Hospital Referral contributes 13.9M and Clinic Referral 9.1M.</a:t>
            </a:r>
          </a:p>
          <a:p>
            <a:pPr>
              <a:spcBef>
                <a:spcPts val="500"/>
              </a:spcBef>
              <a:defRPr sz="1050">
                <a:solidFill>
                  <a:srgbClr val="26303A"/>
                </a:solidFill>
              </a:defRPr>
            </a:pPr>
            <a:r>
              <a:rPr sz="1200" dirty="0"/>
              <a:t>The top three customer types contribute about 68.2M, roughly 75% of total revenue.</a:t>
            </a:r>
          </a:p>
        </p:txBody>
      </p:sp>
      <p:sp>
        <p:nvSpPr>
          <p:cNvPr id="10" name="Rounded Rectangle 9"/>
          <p:cNvSpPr/>
          <p:nvPr/>
        </p:nvSpPr>
        <p:spPr>
          <a:xfrm>
            <a:off x="7223760" y="4280663"/>
            <a:ext cx="4526280" cy="1909825"/>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a:t>Protect the walk-in customer base while reducing over-dependence on one demand channel.</a:t>
            </a:r>
          </a:p>
          <a:p>
            <a:pPr>
              <a:spcBef>
                <a:spcPts val="500"/>
              </a:spcBef>
              <a:defRPr sz="1000">
                <a:solidFill>
                  <a:srgbClr val="26303A"/>
                </a:solidFill>
              </a:defRPr>
            </a:pPr>
            <a:r>
              <a:rPr sz="1200" dirty="0"/>
              <a:t>Strengthen HMO and Corporate relationships because both already generate substantial revenue.</a:t>
            </a:r>
          </a:p>
          <a:p>
            <a:pPr>
              <a:spcBef>
                <a:spcPts val="500"/>
              </a:spcBef>
              <a:defRPr sz="1000">
                <a:solidFill>
                  <a:srgbClr val="26303A"/>
                </a:solidFill>
              </a:defRPr>
            </a:pPr>
            <a:r>
              <a:rPr sz="1200" dirty="0"/>
              <a:t>Add patient-count and test-count views by customer type so demand can be measured directly rather than inferred from revenue.</a:t>
            </a:r>
          </a:p>
        </p:txBody>
      </p:sp>
      <p:sp>
        <p:nvSpPr>
          <p:cNvPr id="12" name="TextBox 11"/>
          <p:cNvSpPr txBox="1"/>
          <p:nvPr/>
        </p:nvSpPr>
        <p:spPr>
          <a:xfrm>
            <a:off x="10789920" y="6565392"/>
            <a:ext cx="731520" cy="164592"/>
          </a:xfrm>
          <a:prstGeom prst="rect">
            <a:avLst/>
          </a:prstGeom>
          <a:noFill/>
        </p:spPr>
        <p:txBody>
          <a:bodyPr wrap="none">
            <a:spAutoFit/>
          </a:bodyPr>
          <a:lstStyle/>
          <a:p>
            <a:pPr algn="r">
              <a:defRPr sz="800">
                <a:solidFill>
                  <a:srgbClr val="69737D"/>
                </a:solidFill>
              </a:defRPr>
            </a:pPr>
            <a:r>
              <a:t>10</a:t>
            </a:r>
          </a:p>
        </p:txBody>
      </p:sp>
      <p:pic>
        <p:nvPicPr>
          <p:cNvPr id="16" name="Picture 15" descr="p2_customer_type.png">
            <a:extLst>
              <a:ext uri="{FF2B5EF4-FFF2-40B4-BE49-F238E27FC236}">
                <a16:creationId xmlns:a16="http://schemas.microsoft.com/office/drawing/2014/main" id="{92749DD4-2527-1C66-EF47-3F8B96556ABA}"/>
              </a:ext>
            </a:extLst>
          </p:cNvPr>
          <p:cNvPicPr>
            <a:picLocks noChangeAspect="1"/>
          </p:cNvPicPr>
          <p:nvPr/>
        </p:nvPicPr>
        <p:blipFill>
          <a:blip r:embed="rId2"/>
          <a:stretch>
            <a:fillRect/>
          </a:stretch>
        </p:blipFill>
        <p:spPr>
          <a:xfrm>
            <a:off x="566928" y="1488027"/>
            <a:ext cx="6400800" cy="4019106"/>
          </a:xfrm>
          <a:prstGeom prst="rect">
            <a:avLst/>
          </a:prstGeom>
        </p:spPr>
      </p:pic>
      <p:sp>
        <p:nvSpPr>
          <p:cNvPr id="17" name="Slide Number Placeholder 16">
            <a:extLst>
              <a:ext uri="{FF2B5EF4-FFF2-40B4-BE49-F238E27FC236}">
                <a16:creationId xmlns:a16="http://schemas.microsoft.com/office/drawing/2014/main" id="{E26A90C9-D9A4-13F7-AC16-622579A3DDA6}"/>
              </a:ext>
            </a:extLst>
          </p:cNvPr>
          <p:cNvSpPr>
            <a:spLocks noGrp="1"/>
          </p:cNvSpPr>
          <p:nvPr>
            <p:ph type="sldNum" sz="quarter" idx="12"/>
          </p:nvPr>
        </p:nvSpPr>
        <p:spPr/>
        <p:txBody>
          <a:bodyPr/>
          <a:lstStyle/>
          <a:p>
            <a:fld id="{C1FF6DA9-008F-8B48-92A6-B652298478BF}"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7892738" cy="338554"/>
          </a:xfrm>
          <a:prstGeom prst="rect">
            <a:avLst/>
          </a:prstGeom>
          <a:noFill/>
        </p:spPr>
        <p:txBody>
          <a:bodyPr wrap="none">
            <a:spAutoFit/>
          </a:bodyPr>
          <a:lstStyle/>
          <a:p>
            <a:pPr>
              <a:defRPr sz="2300" b="1">
                <a:solidFill>
                  <a:srgbClr val="FFFFFF"/>
                </a:solidFill>
              </a:defRPr>
            </a:pPr>
            <a:r>
              <a:rPr sz="1600" dirty="0"/>
              <a:t>Q9. Which diagnostic services are making the greatest contribution to </a:t>
            </a:r>
            <a:r>
              <a:rPr sz="1600" dirty="0" err="1"/>
              <a:t>MediLab's</a:t>
            </a:r>
            <a:r>
              <a:rPr sz="1600" dirty="0"/>
              <a:t> business?</a:t>
            </a:r>
          </a:p>
        </p:txBody>
      </p:sp>
      <p:sp>
        <p:nvSpPr>
          <p:cNvPr id="6" name="Rounded Rectangle 5"/>
          <p:cNvSpPr/>
          <p:nvPr/>
        </p:nvSpPr>
        <p:spPr>
          <a:xfrm>
            <a:off x="411480" y="932688"/>
            <a:ext cx="6583680" cy="5423662"/>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Clinical Chemistry, Molecular Diagnostics and Hormonal Assay are the strongest combined revenue and profit contributors.</a:t>
            </a:r>
          </a:p>
        </p:txBody>
      </p:sp>
      <p:sp>
        <p:nvSpPr>
          <p:cNvPr id="9" name="Rounded Rectangle 8"/>
          <p:cNvSpPr/>
          <p:nvPr/>
        </p:nvSpPr>
        <p:spPr>
          <a:xfrm>
            <a:off x="7223760" y="2542032"/>
            <a:ext cx="4526280" cy="1874519"/>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Clinical Chemistry produces 24M revenue and 14M profit.</a:t>
            </a:r>
          </a:p>
          <a:p>
            <a:pPr>
              <a:spcBef>
                <a:spcPts val="500"/>
              </a:spcBef>
              <a:defRPr sz="1050">
                <a:solidFill>
                  <a:srgbClr val="26303A"/>
                </a:solidFill>
              </a:defRPr>
            </a:pPr>
            <a:r>
              <a:rPr sz="1200" dirty="0"/>
              <a:t>Molecular Diagnostics produces 22M revenue and 12M profit; Hormonal Assay produces 21M revenue and 12M profit.</a:t>
            </a:r>
          </a:p>
          <a:p>
            <a:pPr>
              <a:spcBef>
                <a:spcPts val="500"/>
              </a:spcBef>
              <a:defRPr sz="1050">
                <a:solidFill>
                  <a:srgbClr val="26303A"/>
                </a:solidFill>
              </a:defRPr>
            </a:pPr>
            <a:r>
              <a:rPr sz="1200" dirty="0"/>
              <a:t>The three leading categories therefore drive both scale and a large share of profit.</a:t>
            </a:r>
          </a:p>
        </p:txBody>
      </p:sp>
      <p:sp>
        <p:nvSpPr>
          <p:cNvPr id="10" name="Rounded Rectangle 9"/>
          <p:cNvSpPr/>
          <p:nvPr/>
        </p:nvSpPr>
        <p:spPr>
          <a:xfrm>
            <a:off x="7223760" y="4617720"/>
            <a:ext cx="4526280" cy="1738630"/>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err="1"/>
              <a:t>Prioritise</a:t>
            </a:r>
            <a:r>
              <a:rPr sz="1200" dirty="0"/>
              <a:t> these categories for capacity planning, quality control and equipment uptime.</a:t>
            </a:r>
          </a:p>
          <a:p>
            <a:pPr>
              <a:spcBef>
                <a:spcPts val="500"/>
              </a:spcBef>
              <a:defRPr sz="1000">
                <a:solidFill>
                  <a:srgbClr val="26303A"/>
                </a:solidFill>
              </a:defRPr>
            </a:pPr>
            <a:r>
              <a:rPr sz="1200" dirty="0"/>
              <a:t>Monitor cost inflation closely because margin changes in high-volume categories can materially affect total profit.</a:t>
            </a:r>
          </a:p>
          <a:p>
            <a:pPr>
              <a:spcBef>
                <a:spcPts val="500"/>
              </a:spcBef>
              <a:defRPr sz="1000">
                <a:solidFill>
                  <a:srgbClr val="26303A"/>
                </a:solidFill>
              </a:defRPr>
            </a:pPr>
            <a:r>
              <a:rPr sz="1200" dirty="0"/>
              <a:t>Use revenue and profit together as service-portfolio KPIs.</a:t>
            </a:r>
          </a:p>
        </p:txBody>
      </p:sp>
      <p:pic>
        <p:nvPicPr>
          <p:cNvPr id="14" name="Picture 13" descr="p2_rev_profit_cat.png">
            <a:extLst>
              <a:ext uri="{FF2B5EF4-FFF2-40B4-BE49-F238E27FC236}">
                <a16:creationId xmlns:a16="http://schemas.microsoft.com/office/drawing/2014/main" id="{499F1EB4-289E-315D-3703-151C2A4697A9}"/>
              </a:ext>
            </a:extLst>
          </p:cNvPr>
          <p:cNvPicPr>
            <a:picLocks noChangeAspect="1"/>
          </p:cNvPicPr>
          <p:nvPr/>
        </p:nvPicPr>
        <p:blipFill>
          <a:blip r:embed="rId2"/>
          <a:stretch>
            <a:fillRect/>
          </a:stretch>
        </p:blipFill>
        <p:spPr>
          <a:xfrm>
            <a:off x="566928" y="1744825"/>
            <a:ext cx="6400800" cy="3505509"/>
          </a:xfrm>
          <a:prstGeom prst="rect">
            <a:avLst/>
          </a:prstGeom>
        </p:spPr>
      </p:pic>
      <p:sp>
        <p:nvSpPr>
          <p:cNvPr id="15" name="Slide Number Placeholder 14">
            <a:extLst>
              <a:ext uri="{FF2B5EF4-FFF2-40B4-BE49-F238E27FC236}">
                <a16:creationId xmlns:a16="http://schemas.microsoft.com/office/drawing/2014/main" id="{6AB49626-8BFC-4BF7-7A2B-10458048B669}"/>
              </a:ext>
            </a:extLst>
          </p:cNvPr>
          <p:cNvSpPr>
            <a:spLocks noGrp="1"/>
          </p:cNvSpPr>
          <p:nvPr>
            <p:ph type="sldNum" sz="quarter" idx="12"/>
          </p:nvPr>
        </p:nvSpPr>
        <p:spPr/>
        <p:txBody>
          <a:bodyPr/>
          <a:lstStyle/>
          <a:p>
            <a:fld id="{C1FF6DA9-008F-8B48-92A6-B652298478BF}"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9433160" cy="338554"/>
          </a:xfrm>
          <a:prstGeom prst="rect">
            <a:avLst/>
          </a:prstGeom>
          <a:noFill/>
        </p:spPr>
        <p:txBody>
          <a:bodyPr wrap="none">
            <a:spAutoFit/>
          </a:bodyPr>
          <a:lstStyle/>
          <a:p>
            <a:pPr>
              <a:defRPr sz="2300" b="1">
                <a:solidFill>
                  <a:srgbClr val="FFFFFF"/>
                </a:solidFill>
              </a:defRPr>
            </a:pPr>
            <a:r>
              <a:rPr sz="1600" dirty="0"/>
              <a:t>Q10. Which areas of </a:t>
            </a:r>
            <a:r>
              <a:rPr sz="1600" dirty="0" err="1"/>
              <a:t>MediLab's</a:t>
            </a:r>
            <a:r>
              <a:rPr sz="1600" dirty="0"/>
              <a:t> service portfolio are delivering both strong profitability and healthy margins?</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The scatter shows the strongest revenue categories also operating at relatively healthy margins, with the leading services around the upper-right of the portfolio.</a:t>
            </a:r>
          </a:p>
        </p:txBody>
      </p:sp>
      <p:sp>
        <p:nvSpPr>
          <p:cNvPr id="9" name="Rounded Rectangle 8"/>
          <p:cNvSpPr/>
          <p:nvPr/>
        </p:nvSpPr>
        <p:spPr>
          <a:xfrm>
            <a:off x="7223760" y="2542032"/>
            <a:ext cx="4526280" cy="1874519"/>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Clinical Chemistry sits at approximately 24M revenue and about 58% margin.</a:t>
            </a:r>
          </a:p>
          <a:p>
            <a:pPr>
              <a:spcBef>
                <a:spcPts val="500"/>
              </a:spcBef>
              <a:defRPr sz="1050">
                <a:solidFill>
                  <a:srgbClr val="26303A"/>
                </a:solidFill>
              </a:defRPr>
            </a:pPr>
            <a:r>
              <a:rPr sz="1200" dirty="0"/>
              <a:t>Molecular Diagnostics and Hormonal Assay are also high-revenue services with margins in the mid-to-high 50% range.</a:t>
            </a:r>
          </a:p>
          <a:p>
            <a:pPr>
              <a:spcBef>
                <a:spcPts val="500"/>
              </a:spcBef>
              <a:defRPr sz="1050">
                <a:solidFill>
                  <a:srgbClr val="26303A"/>
                </a:solidFill>
              </a:defRPr>
            </a:pPr>
            <a:r>
              <a:rPr sz="1200" dirty="0"/>
              <a:t>Some smaller categories show higher margins but much lower revenue, so margin alone does not determine commercial priority.</a:t>
            </a:r>
          </a:p>
        </p:txBody>
      </p:sp>
      <p:sp>
        <p:nvSpPr>
          <p:cNvPr id="10" name="Rounded Rectangle 9"/>
          <p:cNvSpPr/>
          <p:nvPr/>
        </p:nvSpPr>
        <p:spPr>
          <a:xfrm>
            <a:off x="7223760" y="4617720"/>
            <a:ext cx="4526280" cy="1572768"/>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err="1"/>
              <a:t>Prioritise</a:t>
            </a:r>
            <a:r>
              <a:rPr sz="1200" dirty="0"/>
              <a:t> high-revenue/high-margin categories for capacity and quality investment.</a:t>
            </a:r>
          </a:p>
          <a:p>
            <a:pPr>
              <a:spcBef>
                <a:spcPts val="500"/>
              </a:spcBef>
              <a:defRPr sz="1000">
                <a:solidFill>
                  <a:srgbClr val="26303A"/>
                </a:solidFill>
              </a:defRPr>
            </a:pPr>
            <a:r>
              <a:rPr sz="1200" dirty="0"/>
              <a:t>Review lower-revenue services for targeted growth opportunities where margins are attractive.</a:t>
            </a:r>
          </a:p>
          <a:p>
            <a:pPr>
              <a:spcBef>
                <a:spcPts val="500"/>
              </a:spcBef>
              <a:defRPr sz="1000">
                <a:solidFill>
                  <a:srgbClr val="26303A"/>
                </a:solidFill>
              </a:defRPr>
            </a:pPr>
            <a:r>
              <a:rPr sz="1200" dirty="0"/>
              <a:t>Use revenue, profit margin and turnaround time together when deciding where to invest.</a:t>
            </a:r>
          </a:p>
        </p:txBody>
      </p:sp>
      <p:pic>
        <p:nvPicPr>
          <p:cNvPr id="14" name="Picture 13" descr="p2_profit_cat.png">
            <a:extLst>
              <a:ext uri="{FF2B5EF4-FFF2-40B4-BE49-F238E27FC236}">
                <a16:creationId xmlns:a16="http://schemas.microsoft.com/office/drawing/2014/main" id="{550153DE-3AC1-EE40-C82C-95A95E063925}"/>
              </a:ext>
            </a:extLst>
          </p:cNvPr>
          <p:cNvPicPr>
            <a:picLocks noChangeAspect="1"/>
          </p:cNvPicPr>
          <p:nvPr/>
        </p:nvPicPr>
        <p:blipFill>
          <a:blip r:embed="rId2"/>
          <a:stretch>
            <a:fillRect/>
          </a:stretch>
        </p:blipFill>
        <p:spPr>
          <a:xfrm>
            <a:off x="566928" y="1506901"/>
            <a:ext cx="6400800" cy="3981358"/>
          </a:xfrm>
          <a:prstGeom prst="rect">
            <a:avLst/>
          </a:prstGeom>
        </p:spPr>
      </p:pic>
      <p:sp>
        <p:nvSpPr>
          <p:cNvPr id="15" name="Slide Number Placeholder 14">
            <a:extLst>
              <a:ext uri="{FF2B5EF4-FFF2-40B4-BE49-F238E27FC236}">
                <a16:creationId xmlns:a16="http://schemas.microsoft.com/office/drawing/2014/main" id="{F00BC151-A87F-2249-D29B-05CA1D84CE54}"/>
              </a:ext>
            </a:extLst>
          </p:cNvPr>
          <p:cNvSpPr>
            <a:spLocks noGrp="1"/>
          </p:cNvSpPr>
          <p:nvPr>
            <p:ph type="sldNum" sz="quarter" idx="12"/>
          </p:nvPr>
        </p:nvSpPr>
        <p:spPr/>
        <p:txBody>
          <a:bodyPr/>
          <a:lstStyle/>
          <a:p>
            <a:fld id="{C1FF6DA9-008F-8B48-92A6-B652298478BF}"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9081397" cy="307777"/>
          </a:xfrm>
          <a:prstGeom prst="rect">
            <a:avLst/>
          </a:prstGeom>
          <a:noFill/>
        </p:spPr>
        <p:txBody>
          <a:bodyPr wrap="none">
            <a:spAutoFit/>
          </a:bodyPr>
          <a:lstStyle/>
          <a:p>
            <a:pPr>
              <a:defRPr sz="2300" b="1">
                <a:solidFill>
                  <a:srgbClr val="FFFFFF"/>
                </a:solidFill>
              </a:defRPr>
            </a:pPr>
            <a:r>
              <a:rPr sz="1400" dirty="0"/>
              <a:t>Q11. Which customer groups are generating the greatest financial value for </a:t>
            </a:r>
            <a:r>
              <a:rPr sz="1400" dirty="0" err="1"/>
              <a:t>MediLab</a:t>
            </a:r>
            <a:r>
              <a:rPr sz="1400" dirty="0"/>
              <a:t> relative to the patients they serve?</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The final dashboard's 'Total Revenue by Customer Grp' visual does not reliably answer this question: it displays the same 0.09bn value repeatedly across age/gender cells. The evidence therefore supports a dashboard-quality finding rather than a customer-value ranking.</a:t>
            </a:r>
          </a:p>
        </p:txBody>
      </p:sp>
      <p:sp>
        <p:nvSpPr>
          <p:cNvPr id="9" name="Rounded Rectangle 8"/>
          <p:cNvSpPr/>
          <p:nvPr/>
        </p:nvSpPr>
        <p:spPr>
          <a:xfrm>
            <a:off x="7223760" y="2542032"/>
            <a:ext cx="4526280" cy="1874519"/>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The visual is broken into age groups and gender, not clearly into customer types.</a:t>
            </a:r>
          </a:p>
          <a:p>
            <a:pPr>
              <a:spcBef>
                <a:spcPts val="500"/>
              </a:spcBef>
              <a:defRPr sz="1050">
                <a:solidFill>
                  <a:srgbClr val="26303A"/>
                </a:solidFill>
              </a:defRPr>
            </a:pPr>
            <a:r>
              <a:rPr sz="1200" dirty="0"/>
              <a:t>The repeated 0.09bn labels do not provide meaningful differentiation between segments.</a:t>
            </a:r>
          </a:p>
          <a:p>
            <a:pPr>
              <a:spcBef>
                <a:spcPts val="500"/>
              </a:spcBef>
              <a:defRPr sz="1050">
                <a:solidFill>
                  <a:srgbClr val="26303A"/>
                </a:solidFill>
              </a:defRPr>
            </a:pPr>
            <a:r>
              <a:rPr sz="1200" dirty="0"/>
              <a:t>The project brief asks for financial value relative to patients served, which requires at least revenue and patient count by customer group.</a:t>
            </a:r>
          </a:p>
        </p:txBody>
      </p:sp>
      <p:sp>
        <p:nvSpPr>
          <p:cNvPr id="10" name="Rounded Rectangle 9"/>
          <p:cNvSpPr/>
          <p:nvPr/>
        </p:nvSpPr>
        <p:spPr>
          <a:xfrm>
            <a:off x="7223760" y="4617720"/>
            <a:ext cx="4526280" cy="1572768"/>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a:t>Validate the measure, field mapping and aggregation used in this visual.</a:t>
            </a:r>
          </a:p>
          <a:p>
            <a:pPr>
              <a:spcBef>
                <a:spcPts val="500"/>
              </a:spcBef>
              <a:defRPr sz="1000">
                <a:solidFill>
                  <a:srgbClr val="26303A"/>
                </a:solidFill>
              </a:defRPr>
            </a:pPr>
            <a:r>
              <a:rPr sz="1200" dirty="0"/>
              <a:t>Replace it with Revenue, Patients and Revenue per Patient by Customer Type.</a:t>
            </a:r>
          </a:p>
          <a:p>
            <a:pPr>
              <a:spcBef>
                <a:spcPts val="500"/>
              </a:spcBef>
              <a:defRPr sz="1000">
                <a:solidFill>
                  <a:srgbClr val="26303A"/>
                </a:solidFill>
              </a:defRPr>
            </a:pPr>
            <a:r>
              <a:rPr sz="1200" dirty="0"/>
              <a:t>Do not make commercial allocation decisions from this visual until the calculation is validated.</a:t>
            </a:r>
          </a:p>
        </p:txBody>
      </p:sp>
      <p:pic>
        <p:nvPicPr>
          <p:cNvPr id="14" name="Picture 13" descr="p2_customer_grp.png">
            <a:extLst>
              <a:ext uri="{FF2B5EF4-FFF2-40B4-BE49-F238E27FC236}">
                <a16:creationId xmlns:a16="http://schemas.microsoft.com/office/drawing/2014/main" id="{6B03285F-4C35-1238-BC21-4946962D02D3}"/>
              </a:ext>
            </a:extLst>
          </p:cNvPr>
          <p:cNvPicPr>
            <a:picLocks noChangeAspect="1"/>
          </p:cNvPicPr>
          <p:nvPr/>
        </p:nvPicPr>
        <p:blipFill>
          <a:blip r:embed="rId2"/>
          <a:stretch>
            <a:fillRect/>
          </a:stretch>
        </p:blipFill>
        <p:spPr>
          <a:xfrm>
            <a:off x="1228549" y="1097280"/>
            <a:ext cx="5077557" cy="4800600"/>
          </a:xfrm>
          <a:prstGeom prst="rect">
            <a:avLst/>
          </a:prstGeom>
        </p:spPr>
      </p:pic>
      <p:sp>
        <p:nvSpPr>
          <p:cNvPr id="15" name="Slide Number Placeholder 14">
            <a:extLst>
              <a:ext uri="{FF2B5EF4-FFF2-40B4-BE49-F238E27FC236}">
                <a16:creationId xmlns:a16="http://schemas.microsoft.com/office/drawing/2014/main" id="{EAE56683-0EF7-1EC1-C56F-947D27025EB2}"/>
              </a:ext>
            </a:extLst>
          </p:cNvPr>
          <p:cNvSpPr>
            <a:spLocks noGrp="1"/>
          </p:cNvSpPr>
          <p:nvPr>
            <p:ph type="sldNum" sz="quarter" idx="12"/>
          </p:nvPr>
        </p:nvSpPr>
        <p:spPr/>
        <p:txBody>
          <a:bodyPr/>
          <a:lstStyle/>
          <a:p>
            <a:fld id="{C1FF6DA9-008F-8B48-92A6-B652298478BF}"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9011762" cy="276999"/>
          </a:xfrm>
          <a:prstGeom prst="rect">
            <a:avLst/>
          </a:prstGeom>
          <a:noFill/>
        </p:spPr>
        <p:txBody>
          <a:bodyPr wrap="none">
            <a:spAutoFit/>
          </a:bodyPr>
          <a:lstStyle/>
          <a:p>
            <a:pPr>
              <a:defRPr sz="2300" b="1">
                <a:solidFill>
                  <a:srgbClr val="FFFFFF"/>
                </a:solidFill>
              </a:defRPr>
            </a:pPr>
            <a:r>
              <a:rPr sz="1200" dirty="0"/>
              <a:t>Q12. What does the composition of </a:t>
            </a:r>
            <a:r>
              <a:rPr sz="1200" dirty="0" err="1"/>
              <a:t>MediLab's</a:t>
            </a:r>
            <a:r>
              <a:rPr sz="1200" dirty="0"/>
              <a:t> patient population look like, and are there notable differences across demographic groups?</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The patient distribution is broadly balanced by gender within each displayed age group</a:t>
            </a:r>
            <a:r>
              <a:rPr dirty="0"/>
              <a:t>.</a:t>
            </a:r>
          </a:p>
        </p:txBody>
      </p:sp>
      <p:sp>
        <p:nvSpPr>
          <p:cNvPr id="9" name="Rounded Rectangle 8"/>
          <p:cNvSpPr/>
          <p:nvPr/>
        </p:nvSpPr>
        <p:spPr>
          <a:xfrm>
            <a:off x="7223760" y="2542032"/>
            <a:ext cx="4526280" cy="1874519"/>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The five age bands shown are 0–17, 18–30, 31–45, 46–60 and 61+.</a:t>
            </a:r>
          </a:p>
          <a:p>
            <a:pPr>
              <a:spcBef>
                <a:spcPts val="500"/>
              </a:spcBef>
              <a:defRPr sz="1050">
                <a:solidFill>
                  <a:srgbClr val="26303A"/>
                </a:solidFill>
              </a:defRPr>
            </a:pPr>
            <a:r>
              <a:rPr sz="1200" dirty="0"/>
              <a:t>Each age band is approximately split 50/50 between female and male patients in the visual.</a:t>
            </a:r>
          </a:p>
          <a:p>
            <a:pPr>
              <a:spcBef>
                <a:spcPts val="500"/>
              </a:spcBef>
              <a:defRPr sz="1050">
                <a:solidFill>
                  <a:srgbClr val="26303A"/>
                </a:solidFill>
              </a:defRPr>
            </a:pPr>
            <a:r>
              <a:rPr sz="1200" dirty="0"/>
              <a:t>No single age/gender segment visibly dominates the population.</a:t>
            </a:r>
          </a:p>
        </p:txBody>
      </p:sp>
      <p:sp>
        <p:nvSpPr>
          <p:cNvPr id="10" name="Rounded Rectangle 9"/>
          <p:cNvSpPr/>
          <p:nvPr/>
        </p:nvSpPr>
        <p:spPr>
          <a:xfrm>
            <a:off x="7223760" y="4617720"/>
            <a:ext cx="4526280" cy="1572768"/>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a:t>Use this balanced demographic profile as the baseline for service planning.</a:t>
            </a:r>
          </a:p>
          <a:p>
            <a:pPr>
              <a:spcBef>
                <a:spcPts val="500"/>
              </a:spcBef>
              <a:defRPr sz="1000">
                <a:solidFill>
                  <a:srgbClr val="26303A"/>
                </a:solidFill>
              </a:defRPr>
            </a:pPr>
            <a:r>
              <a:rPr sz="1200" dirty="0"/>
              <a:t>Cross demographic groups with test category and customer type to uncover more actionable demand patterns.</a:t>
            </a:r>
          </a:p>
          <a:p>
            <a:pPr>
              <a:spcBef>
                <a:spcPts val="500"/>
              </a:spcBef>
              <a:defRPr sz="1000">
                <a:solidFill>
                  <a:srgbClr val="26303A"/>
                </a:solidFill>
              </a:defRPr>
            </a:pPr>
            <a:r>
              <a:rPr sz="1200" dirty="0"/>
              <a:t>Monitor demographic mix over time to detect changes in the patient base.</a:t>
            </a:r>
          </a:p>
        </p:txBody>
      </p:sp>
      <p:pic>
        <p:nvPicPr>
          <p:cNvPr id="14" name="Picture 13" descr="p2_patient_dist.png">
            <a:extLst>
              <a:ext uri="{FF2B5EF4-FFF2-40B4-BE49-F238E27FC236}">
                <a16:creationId xmlns:a16="http://schemas.microsoft.com/office/drawing/2014/main" id="{1E9B7D1D-3CA3-5B5E-45F8-8C479DF9B3AE}"/>
              </a:ext>
            </a:extLst>
          </p:cNvPr>
          <p:cNvPicPr>
            <a:picLocks noChangeAspect="1"/>
          </p:cNvPicPr>
          <p:nvPr/>
        </p:nvPicPr>
        <p:blipFill>
          <a:blip r:embed="rId2"/>
          <a:stretch>
            <a:fillRect/>
          </a:stretch>
        </p:blipFill>
        <p:spPr>
          <a:xfrm>
            <a:off x="966978" y="1097280"/>
            <a:ext cx="5600700" cy="4800600"/>
          </a:xfrm>
          <a:prstGeom prst="rect">
            <a:avLst/>
          </a:prstGeom>
        </p:spPr>
      </p:pic>
      <p:sp>
        <p:nvSpPr>
          <p:cNvPr id="15" name="Slide Number Placeholder 14">
            <a:extLst>
              <a:ext uri="{FF2B5EF4-FFF2-40B4-BE49-F238E27FC236}">
                <a16:creationId xmlns:a16="http://schemas.microsoft.com/office/drawing/2014/main" id="{F2059BDD-8E41-BF8E-9D03-2AB22A594D70}"/>
              </a:ext>
            </a:extLst>
          </p:cNvPr>
          <p:cNvSpPr>
            <a:spLocks noGrp="1"/>
          </p:cNvSpPr>
          <p:nvPr>
            <p:ph type="sldNum" sz="quarter" idx="12"/>
          </p:nvPr>
        </p:nvSpPr>
        <p:spPr/>
        <p:txBody>
          <a:bodyPr/>
          <a:lstStyle/>
          <a:p>
            <a:fld id="{C1FF6DA9-008F-8B48-92A6-B652298478BF}"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8479565" cy="276999"/>
          </a:xfrm>
          <a:prstGeom prst="rect">
            <a:avLst/>
          </a:prstGeom>
          <a:noFill/>
        </p:spPr>
        <p:txBody>
          <a:bodyPr wrap="none">
            <a:spAutoFit/>
          </a:bodyPr>
          <a:lstStyle/>
          <a:p>
            <a:pPr>
              <a:defRPr sz="2300" b="1">
                <a:solidFill>
                  <a:srgbClr val="FFFFFF"/>
                </a:solidFill>
              </a:defRPr>
            </a:pPr>
            <a:r>
              <a:rPr sz="1200" dirty="0"/>
              <a:t>Q13. Which referring clinicians are driving the greatest volume of diagnostic activity, and which are contributing most to revenue?</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941832"/>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The displayed revenue ranking is relatively concentrated among the leading clinicians, with the top clinician at 7.9K and the lowest of the displayed top ten at 7.3K.</a:t>
            </a:r>
          </a:p>
        </p:txBody>
      </p:sp>
      <p:sp>
        <p:nvSpPr>
          <p:cNvPr id="9" name="Rounded Rectangle 8"/>
          <p:cNvSpPr/>
          <p:nvPr/>
        </p:nvSpPr>
        <p:spPr>
          <a:xfrm>
            <a:off x="7223760" y="1966453"/>
            <a:ext cx="4526280" cy="1858296"/>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Dr. Sarah Williams and Dr. Tolu Adebayo are the highest displayed at 7.9K.</a:t>
            </a:r>
          </a:p>
          <a:p>
            <a:pPr>
              <a:spcBef>
                <a:spcPts val="500"/>
              </a:spcBef>
              <a:defRPr sz="1050">
                <a:solidFill>
                  <a:srgbClr val="26303A"/>
                </a:solidFill>
              </a:defRPr>
            </a:pPr>
            <a:r>
              <a:rPr sz="1200" dirty="0"/>
              <a:t>The remaining leading clinicians are tightly grouped between about 7.3K and 7.7K.</a:t>
            </a:r>
          </a:p>
          <a:p>
            <a:pPr>
              <a:spcBef>
                <a:spcPts val="500"/>
              </a:spcBef>
              <a:defRPr sz="1050">
                <a:solidFill>
                  <a:srgbClr val="26303A"/>
                </a:solidFill>
              </a:defRPr>
            </a:pPr>
            <a:r>
              <a:rPr sz="1200" dirty="0"/>
              <a:t>The visual is explicitly a revenue chart, so it supports revenue contribution more directly than referral volume.</a:t>
            </a:r>
          </a:p>
        </p:txBody>
      </p:sp>
      <p:sp>
        <p:nvSpPr>
          <p:cNvPr id="10" name="Rounded Rectangle 9"/>
          <p:cNvSpPr/>
          <p:nvPr/>
        </p:nvSpPr>
        <p:spPr>
          <a:xfrm>
            <a:off x="7223760" y="3916682"/>
            <a:ext cx="4526280" cy="2273806"/>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a:t>Maintain relationships with the leading referring clinicians.</a:t>
            </a:r>
          </a:p>
          <a:p>
            <a:pPr>
              <a:spcBef>
                <a:spcPts val="500"/>
              </a:spcBef>
              <a:defRPr sz="1000">
                <a:solidFill>
                  <a:srgbClr val="26303A"/>
                </a:solidFill>
              </a:defRPr>
            </a:pPr>
            <a:r>
              <a:rPr sz="1200" dirty="0"/>
              <a:t>Develop the next tier of referrers rather than relying on a small number of sources.</a:t>
            </a:r>
            <a:endParaRPr lang="en-GB" sz="1200" dirty="0"/>
          </a:p>
          <a:p>
            <a:pPr>
              <a:spcBef>
                <a:spcPts val="500"/>
              </a:spcBef>
              <a:defRPr sz="1000">
                <a:solidFill>
                  <a:srgbClr val="26303A"/>
                </a:solidFill>
              </a:defRPr>
            </a:pPr>
            <a:r>
              <a:rPr lang="en-US" sz="1200" dirty="0"/>
              <a:t>Track clinician revenue alongside patient count and test mix to understand referral quality and value.</a:t>
            </a:r>
            <a:endParaRPr sz="1200" dirty="0"/>
          </a:p>
          <a:p>
            <a:pPr>
              <a:spcBef>
                <a:spcPts val="500"/>
              </a:spcBef>
              <a:defRPr sz="1000">
                <a:solidFill>
                  <a:srgbClr val="26303A"/>
                </a:solidFill>
              </a:defRPr>
            </a:pPr>
            <a:r>
              <a:rPr sz="1200" dirty="0"/>
              <a:t>Add patient count and test volume by clinician to separate referral volume from revenue value.</a:t>
            </a:r>
          </a:p>
        </p:txBody>
      </p:sp>
      <p:pic>
        <p:nvPicPr>
          <p:cNvPr id="16" name="Picture 15">
            <a:extLst>
              <a:ext uri="{FF2B5EF4-FFF2-40B4-BE49-F238E27FC236}">
                <a16:creationId xmlns:a16="http://schemas.microsoft.com/office/drawing/2014/main" id="{6FC4DE2A-DCC0-B595-F0E5-68A5E71952E4}"/>
              </a:ext>
            </a:extLst>
          </p:cNvPr>
          <p:cNvPicPr>
            <a:picLocks noChangeAspect="1"/>
          </p:cNvPicPr>
          <p:nvPr/>
        </p:nvPicPr>
        <p:blipFill>
          <a:blip r:embed="rId2"/>
          <a:stretch>
            <a:fillRect/>
          </a:stretch>
        </p:blipFill>
        <p:spPr>
          <a:xfrm>
            <a:off x="690471" y="1281665"/>
            <a:ext cx="6091634" cy="4244064"/>
          </a:xfrm>
          <a:prstGeom prst="rect">
            <a:avLst/>
          </a:prstGeom>
        </p:spPr>
      </p:pic>
      <p:sp>
        <p:nvSpPr>
          <p:cNvPr id="17" name="Slide Number Placeholder 16">
            <a:extLst>
              <a:ext uri="{FF2B5EF4-FFF2-40B4-BE49-F238E27FC236}">
                <a16:creationId xmlns:a16="http://schemas.microsoft.com/office/drawing/2014/main" id="{0DB324A2-FC48-7DC7-E7A8-6590465F78C8}"/>
              </a:ext>
            </a:extLst>
          </p:cNvPr>
          <p:cNvSpPr>
            <a:spLocks noGrp="1"/>
          </p:cNvSpPr>
          <p:nvPr>
            <p:ph type="sldNum" sz="quarter" idx="12"/>
          </p:nvPr>
        </p:nvSpPr>
        <p:spPr/>
        <p:txBody>
          <a:bodyPr/>
          <a:lstStyle/>
          <a:p>
            <a:fld id="{C1FF6DA9-008F-8B48-92A6-B652298478BF}"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8113055" cy="338554"/>
          </a:xfrm>
          <a:prstGeom prst="rect">
            <a:avLst/>
          </a:prstGeom>
          <a:noFill/>
        </p:spPr>
        <p:txBody>
          <a:bodyPr wrap="none">
            <a:spAutoFit/>
          </a:bodyPr>
          <a:lstStyle/>
          <a:p>
            <a:pPr>
              <a:defRPr sz="2300" b="1">
                <a:solidFill>
                  <a:srgbClr val="FFFFFF"/>
                </a:solidFill>
              </a:defRPr>
            </a:pPr>
            <a:r>
              <a:rPr sz="1600" dirty="0"/>
              <a:t>Q14. What patterns can be observed in diagnostic results across the different test categories?</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Normal results form the largest component across all displayed test categories. Abnormal, inconclusive, negative and positive outcomes form smaller components.</a:t>
            </a:r>
          </a:p>
        </p:txBody>
      </p:sp>
      <p:sp>
        <p:nvSpPr>
          <p:cNvPr id="9" name="Rounded Rectangle 8"/>
          <p:cNvSpPr/>
          <p:nvPr/>
        </p:nvSpPr>
        <p:spPr>
          <a:xfrm>
            <a:off x="7223760" y="2542032"/>
            <a:ext cx="4526280" cy="1874519"/>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The stacked bars show a consistently large Normal segment across categories.</a:t>
            </a:r>
          </a:p>
          <a:p>
            <a:pPr>
              <a:spcBef>
                <a:spcPts val="500"/>
              </a:spcBef>
              <a:defRPr sz="1050">
                <a:solidFill>
                  <a:srgbClr val="26303A"/>
                </a:solidFill>
              </a:defRPr>
            </a:pPr>
            <a:r>
              <a:rPr sz="1200" dirty="0"/>
              <a:t>Non-normal outcomes are present in every category, with visible differences in the relative composition.</a:t>
            </a:r>
          </a:p>
          <a:p>
            <a:pPr>
              <a:spcBef>
                <a:spcPts val="500"/>
              </a:spcBef>
              <a:defRPr sz="1050">
                <a:solidFill>
                  <a:srgbClr val="26303A"/>
                </a:solidFill>
              </a:defRPr>
            </a:pPr>
            <a:r>
              <a:rPr sz="1200" dirty="0"/>
              <a:t>The visual is most useful as a quality-monitoring view; exact rates should be calculated from the underlying data.</a:t>
            </a:r>
          </a:p>
        </p:txBody>
      </p:sp>
      <p:sp>
        <p:nvSpPr>
          <p:cNvPr id="10" name="Rounded Rectangle 9"/>
          <p:cNvSpPr/>
          <p:nvPr/>
        </p:nvSpPr>
        <p:spPr>
          <a:xfrm>
            <a:off x="7223760" y="4617719"/>
            <a:ext cx="4526280" cy="1602105"/>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a:t>Track abnormal and inconclusive rates by test category as quality indicators.</a:t>
            </a:r>
          </a:p>
          <a:p>
            <a:pPr>
              <a:spcBef>
                <a:spcPts val="500"/>
              </a:spcBef>
              <a:defRPr sz="1000">
                <a:solidFill>
                  <a:srgbClr val="26303A"/>
                </a:solidFill>
              </a:defRPr>
            </a:pPr>
            <a:r>
              <a:rPr sz="1200" dirty="0"/>
              <a:t>Investigate categories with unusually high non-normal or inconclusive proportions.</a:t>
            </a:r>
          </a:p>
          <a:p>
            <a:pPr>
              <a:spcBef>
                <a:spcPts val="500"/>
              </a:spcBef>
              <a:defRPr sz="1000">
                <a:solidFill>
                  <a:srgbClr val="26303A"/>
                </a:solidFill>
              </a:defRPr>
            </a:pPr>
            <a:r>
              <a:rPr sz="1200" dirty="0"/>
              <a:t>Combine result patterns with turnaround time and cancellation rates to identify process issues.</a:t>
            </a:r>
          </a:p>
        </p:txBody>
      </p:sp>
      <p:pic>
        <p:nvPicPr>
          <p:cNvPr id="16" name="Picture 15">
            <a:extLst>
              <a:ext uri="{FF2B5EF4-FFF2-40B4-BE49-F238E27FC236}">
                <a16:creationId xmlns:a16="http://schemas.microsoft.com/office/drawing/2014/main" id="{028EED4C-2200-8502-45A4-3541C8476D17}"/>
              </a:ext>
            </a:extLst>
          </p:cNvPr>
          <p:cNvPicPr>
            <a:picLocks noChangeAspect="1"/>
          </p:cNvPicPr>
          <p:nvPr/>
        </p:nvPicPr>
        <p:blipFill>
          <a:blip r:embed="rId2"/>
          <a:stretch>
            <a:fillRect/>
          </a:stretch>
        </p:blipFill>
        <p:spPr>
          <a:xfrm>
            <a:off x="552514" y="1307690"/>
            <a:ext cx="6229592" cy="4345857"/>
          </a:xfrm>
          <a:prstGeom prst="rect">
            <a:avLst/>
          </a:prstGeom>
        </p:spPr>
      </p:pic>
      <p:sp>
        <p:nvSpPr>
          <p:cNvPr id="17" name="Slide Number Placeholder 16">
            <a:extLst>
              <a:ext uri="{FF2B5EF4-FFF2-40B4-BE49-F238E27FC236}">
                <a16:creationId xmlns:a16="http://schemas.microsoft.com/office/drawing/2014/main" id="{6BC76273-C87E-12C9-FC98-7FA2C20BCF1B}"/>
              </a:ext>
            </a:extLst>
          </p:cNvPr>
          <p:cNvSpPr>
            <a:spLocks noGrp="1"/>
          </p:cNvSpPr>
          <p:nvPr>
            <p:ph type="sldNum" sz="quarter" idx="12"/>
          </p:nvPr>
        </p:nvSpPr>
        <p:spPr/>
        <p:txBody>
          <a:bodyPr/>
          <a:lstStyle/>
          <a:p>
            <a:fld id="{C1FF6DA9-008F-8B48-92A6-B652298478BF}"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8272008" cy="338554"/>
          </a:xfrm>
          <a:prstGeom prst="rect">
            <a:avLst/>
          </a:prstGeom>
          <a:noFill/>
        </p:spPr>
        <p:txBody>
          <a:bodyPr wrap="none">
            <a:spAutoFit/>
          </a:bodyPr>
          <a:lstStyle/>
          <a:p>
            <a:pPr>
              <a:defRPr sz="2300" b="1">
                <a:solidFill>
                  <a:srgbClr val="FFFFFF"/>
                </a:solidFill>
              </a:defRPr>
            </a:pPr>
            <a:r>
              <a:rPr sz="1600" dirty="0"/>
              <a:t>Q15. Which branches are successfully balancing diagnostic volume with financial performance?</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41732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Branch performance is spread across roughly 1,445–1,580 tests in the displayed scatter. The chart shows that similar test volumes can correspond to different revenue levels, so volume alone is not sufficient for branch evaluation</a:t>
            </a:r>
            <a:r>
              <a:rPr dirty="0"/>
              <a:t>.</a:t>
            </a:r>
          </a:p>
        </p:txBody>
      </p:sp>
      <p:sp>
        <p:nvSpPr>
          <p:cNvPr id="9" name="Rounded Rectangle 8"/>
          <p:cNvSpPr/>
          <p:nvPr/>
        </p:nvSpPr>
        <p:spPr>
          <a:xfrm>
            <a:off x="7223760" y="2542032"/>
            <a:ext cx="4526280" cy="1874519"/>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The branch points span roughly 1.45K to 1.58K tests.</a:t>
            </a:r>
          </a:p>
          <a:p>
            <a:pPr>
              <a:spcBef>
                <a:spcPts val="500"/>
              </a:spcBef>
              <a:defRPr sz="1050">
                <a:solidFill>
                  <a:srgbClr val="26303A"/>
                </a:solidFill>
              </a:defRPr>
            </a:pPr>
            <a:r>
              <a:rPr sz="1200" dirty="0"/>
              <a:t>Some branches at similar test volumes sit at noticeably different revenue levels.</a:t>
            </a:r>
          </a:p>
          <a:p>
            <a:pPr>
              <a:spcBef>
                <a:spcPts val="500"/>
              </a:spcBef>
              <a:defRPr sz="1050">
                <a:solidFill>
                  <a:srgbClr val="26303A"/>
                </a:solidFill>
              </a:defRPr>
            </a:pPr>
            <a:r>
              <a:rPr sz="1200" dirty="0"/>
              <a:t>The visual therefore supports a combined volume-and-revenue assessment rather than a volume-only ranking.</a:t>
            </a:r>
          </a:p>
        </p:txBody>
      </p:sp>
      <p:sp>
        <p:nvSpPr>
          <p:cNvPr id="10" name="Rounded Rectangle 9"/>
          <p:cNvSpPr/>
          <p:nvPr/>
        </p:nvSpPr>
        <p:spPr>
          <a:xfrm>
            <a:off x="7223760" y="4582413"/>
            <a:ext cx="4526280" cy="1637411"/>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a:t>Create a branch performance matrix using tests, revenue and profit margin.</a:t>
            </a:r>
          </a:p>
          <a:p>
            <a:pPr>
              <a:spcBef>
                <a:spcPts val="500"/>
              </a:spcBef>
              <a:defRPr sz="1000">
                <a:solidFill>
                  <a:srgbClr val="26303A"/>
                </a:solidFill>
              </a:defRPr>
            </a:pPr>
            <a:r>
              <a:rPr sz="1200" dirty="0"/>
              <a:t>Investigate high-volume branches with comparatively weaker revenue or margin.</a:t>
            </a:r>
          </a:p>
          <a:p>
            <a:pPr>
              <a:spcBef>
                <a:spcPts val="500"/>
              </a:spcBef>
              <a:defRPr sz="1000">
                <a:solidFill>
                  <a:srgbClr val="26303A"/>
                </a:solidFill>
              </a:defRPr>
            </a:pPr>
            <a:r>
              <a:rPr sz="1200" dirty="0"/>
              <a:t>Share operating practices from high-volume/high-value branches with lower-performing locations.</a:t>
            </a:r>
          </a:p>
        </p:txBody>
      </p:sp>
      <p:sp>
        <p:nvSpPr>
          <p:cNvPr id="17" name="Slide Number Placeholder 16">
            <a:extLst>
              <a:ext uri="{FF2B5EF4-FFF2-40B4-BE49-F238E27FC236}">
                <a16:creationId xmlns:a16="http://schemas.microsoft.com/office/drawing/2014/main" id="{4B95059E-2754-E67A-C617-737129723F99}"/>
              </a:ext>
            </a:extLst>
          </p:cNvPr>
          <p:cNvSpPr>
            <a:spLocks noGrp="1"/>
          </p:cNvSpPr>
          <p:nvPr>
            <p:ph type="sldNum" sz="quarter" idx="12"/>
          </p:nvPr>
        </p:nvSpPr>
        <p:spPr/>
        <p:txBody>
          <a:bodyPr/>
          <a:lstStyle/>
          <a:p>
            <a:fld id="{C1FF6DA9-008F-8B48-92A6-B652298478BF}" type="slidenum">
              <a:rPr lang="en-US" smtClean="0"/>
              <a:t>18</a:t>
            </a:fld>
            <a:endParaRPr lang="en-US"/>
          </a:p>
        </p:txBody>
      </p:sp>
      <p:pic>
        <p:nvPicPr>
          <p:cNvPr id="19" name="Picture 18">
            <a:extLst>
              <a:ext uri="{FF2B5EF4-FFF2-40B4-BE49-F238E27FC236}">
                <a16:creationId xmlns:a16="http://schemas.microsoft.com/office/drawing/2014/main" id="{F9A4C0E1-8A7A-67AA-8E14-398D202DE859}"/>
              </a:ext>
            </a:extLst>
          </p:cNvPr>
          <p:cNvPicPr>
            <a:picLocks noChangeAspect="1"/>
          </p:cNvPicPr>
          <p:nvPr/>
        </p:nvPicPr>
        <p:blipFill>
          <a:blip r:embed="rId2"/>
          <a:stretch>
            <a:fillRect/>
          </a:stretch>
        </p:blipFill>
        <p:spPr>
          <a:xfrm>
            <a:off x="620288" y="1623349"/>
            <a:ext cx="5983184" cy="353527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9234964" cy="307777"/>
          </a:xfrm>
          <a:prstGeom prst="rect">
            <a:avLst/>
          </a:prstGeom>
          <a:noFill/>
        </p:spPr>
        <p:txBody>
          <a:bodyPr wrap="none">
            <a:spAutoFit/>
          </a:bodyPr>
          <a:lstStyle/>
          <a:p>
            <a:pPr>
              <a:defRPr sz="2300" b="1">
                <a:solidFill>
                  <a:srgbClr val="FFFFFF"/>
                </a:solidFill>
              </a:defRPr>
            </a:pPr>
            <a:r>
              <a:rPr sz="1400" dirty="0"/>
              <a:t>Q16. Which areas of the business appear to require management attention, and what evidence supports your conclusion?</a:t>
            </a:r>
          </a:p>
        </p:txBody>
      </p:sp>
      <p:sp>
        <p:nvSpPr>
          <p:cNvPr id="6" name="Rounded Rectangle 5"/>
          <p:cNvSpPr/>
          <p:nvPr/>
        </p:nvSpPr>
        <p:spPr>
          <a:xfrm>
            <a:off x="411480" y="932688"/>
            <a:ext cx="6583680" cy="52578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23760" y="932688"/>
            <a:ext cx="4526280" cy="1122254"/>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Answer</a:t>
            </a:r>
          </a:p>
          <a:p>
            <a:pPr>
              <a:spcBef>
                <a:spcPts val="500"/>
              </a:spcBef>
              <a:defRPr sz="1100">
                <a:solidFill>
                  <a:srgbClr val="26303A"/>
                </a:solidFill>
              </a:defRPr>
            </a:pPr>
            <a:r>
              <a:rPr sz="1200" dirty="0"/>
              <a:t>Management attention should focus on operational delays, lower-volume regions, non-completed tests and dashboard/data-quality controls rather than a single weak-margin region.</a:t>
            </a:r>
          </a:p>
        </p:txBody>
      </p:sp>
      <p:sp>
        <p:nvSpPr>
          <p:cNvPr id="9" name="Rounded Rectangle 8"/>
          <p:cNvSpPr/>
          <p:nvPr/>
        </p:nvSpPr>
        <p:spPr>
          <a:xfrm>
            <a:off x="7223760" y="2143433"/>
            <a:ext cx="4526280" cy="2035278"/>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Key insights</a:t>
            </a:r>
          </a:p>
          <a:p>
            <a:pPr>
              <a:spcBef>
                <a:spcPts val="500"/>
              </a:spcBef>
              <a:defRPr sz="1050">
                <a:solidFill>
                  <a:srgbClr val="26303A"/>
                </a:solidFill>
              </a:defRPr>
            </a:pPr>
            <a:r>
              <a:rPr sz="1200" dirty="0"/>
              <a:t>Regional profit margins are tightly grouped at approximately 58.16%–58.49%, so margin does not reveal a major regional outlier.</a:t>
            </a:r>
          </a:p>
          <a:p>
            <a:pPr>
              <a:spcBef>
                <a:spcPts val="500"/>
              </a:spcBef>
              <a:defRPr sz="1050">
                <a:solidFill>
                  <a:srgbClr val="26303A"/>
                </a:solidFill>
              </a:defRPr>
            </a:pPr>
            <a:r>
              <a:rPr sz="1200" dirty="0"/>
              <a:t>Histopathology has the highest turnaround time at 3.0 days, creating a clear operational improvement opportunity.</a:t>
            </a:r>
          </a:p>
          <a:p>
            <a:pPr>
              <a:spcBef>
                <a:spcPts val="500"/>
              </a:spcBef>
              <a:defRPr sz="1050">
                <a:solidFill>
                  <a:srgbClr val="26303A"/>
                </a:solidFill>
              </a:defRPr>
            </a:pPr>
            <a:r>
              <a:rPr sz="1200" dirty="0"/>
              <a:t>North and South East have the lowest regional test volumes, while 9.87% of requests are non-completed.</a:t>
            </a:r>
          </a:p>
        </p:txBody>
      </p:sp>
      <p:sp>
        <p:nvSpPr>
          <p:cNvPr id="10" name="Rounded Rectangle 9"/>
          <p:cNvSpPr/>
          <p:nvPr/>
        </p:nvSpPr>
        <p:spPr>
          <a:xfrm>
            <a:off x="7223760" y="4344573"/>
            <a:ext cx="4526280" cy="1845915"/>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Recommendations</a:t>
            </a:r>
          </a:p>
          <a:p>
            <a:pPr>
              <a:spcBef>
                <a:spcPts val="500"/>
              </a:spcBef>
              <a:defRPr sz="1000">
                <a:solidFill>
                  <a:srgbClr val="26303A"/>
                </a:solidFill>
              </a:defRPr>
            </a:pPr>
            <a:r>
              <a:rPr sz="1200" dirty="0" err="1"/>
              <a:t>Prioritise</a:t>
            </a:r>
            <a:r>
              <a:rPr sz="1200" dirty="0"/>
              <a:t> Histopathology turnaround-time improvement and investigate its process bottlenecks.</a:t>
            </a:r>
          </a:p>
          <a:p>
            <a:pPr>
              <a:spcBef>
                <a:spcPts val="500"/>
              </a:spcBef>
              <a:defRPr sz="1000">
                <a:solidFill>
                  <a:srgbClr val="26303A"/>
                </a:solidFill>
              </a:defRPr>
            </a:pPr>
            <a:r>
              <a:rPr sz="1200" dirty="0"/>
              <a:t>Review demand and referral strategy in North and South East.</a:t>
            </a:r>
          </a:p>
          <a:p>
            <a:pPr>
              <a:spcBef>
                <a:spcPts val="500"/>
              </a:spcBef>
              <a:defRPr sz="1000">
                <a:solidFill>
                  <a:srgbClr val="26303A"/>
                </a:solidFill>
              </a:defRPr>
            </a:pPr>
            <a:r>
              <a:rPr sz="1200" dirty="0"/>
              <a:t>Reduce inconclusive and cancelled requests through root-cause analysis.</a:t>
            </a:r>
          </a:p>
          <a:p>
            <a:pPr>
              <a:spcBef>
                <a:spcPts val="500"/>
              </a:spcBef>
              <a:defRPr sz="1000">
                <a:solidFill>
                  <a:srgbClr val="26303A"/>
                </a:solidFill>
              </a:defRPr>
            </a:pPr>
            <a:r>
              <a:rPr sz="1200" dirty="0"/>
              <a:t>Continue validating dashboard measures so management decisions are based on reliable KPIs.</a:t>
            </a:r>
          </a:p>
        </p:txBody>
      </p:sp>
      <p:pic>
        <p:nvPicPr>
          <p:cNvPr id="14" name="Picture 13">
            <a:extLst>
              <a:ext uri="{FF2B5EF4-FFF2-40B4-BE49-F238E27FC236}">
                <a16:creationId xmlns:a16="http://schemas.microsoft.com/office/drawing/2014/main" id="{88A1AFED-4B7F-EEE8-9E8B-BAEE9A39CA95}"/>
              </a:ext>
            </a:extLst>
          </p:cNvPr>
          <p:cNvPicPr>
            <a:picLocks noChangeAspect="1"/>
          </p:cNvPicPr>
          <p:nvPr/>
        </p:nvPicPr>
        <p:blipFill>
          <a:blip r:embed="rId2"/>
          <a:stretch>
            <a:fillRect/>
          </a:stretch>
        </p:blipFill>
        <p:spPr>
          <a:xfrm>
            <a:off x="698090" y="1199535"/>
            <a:ext cx="6084015" cy="4837471"/>
          </a:xfrm>
          <a:prstGeom prst="rect">
            <a:avLst/>
          </a:prstGeom>
        </p:spPr>
      </p:pic>
      <p:sp>
        <p:nvSpPr>
          <p:cNvPr id="15" name="Slide Number Placeholder 14">
            <a:extLst>
              <a:ext uri="{FF2B5EF4-FFF2-40B4-BE49-F238E27FC236}">
                <a16:creationId xmlns:a16="http://schemas.microsoft.com/office/drawing/2014/main" id="{74745C25-15E6-BE79-A6F5-4BCE7E966D65}"/>
              </a:ext>
            </a:extLst>
          </p:cNvPr>
          <p:cNvSpPr>
            <a:spLocks noGrp="1"/>
          </p:cNvSpPr>
          <p:nvPr>
            <p:ph type="sldNum" sz="quarter" idx="12"/>
          </p:nvPr>
        </p:nvSpPr>
        <p:spPr/>
        <p:txBody>
          <a:bodyPr/>
          <a:lstStyle/>
          <a:p>
            <a:fld id="{C1FF6DA9-008F-8B48-92A6-B652298478BF}"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9875520" cy="438912"/>
          </a:xfrm>
          <a:prstGeom prst="rect">
            <a:avLst/>
          </a:prstGeom>
          <a:noFill/>
        </p:spPr>
        <p:txBody>
          <a:bodyPr wrap="none">
            <a:spAutoFit/>
          </a:bodyPr>
          <a:lstStyle/>
          <a:p>
            <a:pPr>
              <a:defRPr sz="2300" b="1">
                <a:solidFill>
                  <a:srgbClr val="FFFFFF"/>
                </a:solidFill>
              </a:defRPr>
            </a:pPr>
            <a:r>
              <a:t>Executive Synthesis</a:t>
            </a:r>
          </a:p>
        </p:txBody>
      </p:sp>
      <p:sp>
        <p:nvSpPr>
          <p:cNvPr id="6" name="Rounded Rectangle 5"/>
          <p:cNvSpPr/>
          <p:nvPr/>
        </p:nvSpPr>
        <p:spPr>
          <a:xfrm>
            <a:off x="502920" y="914400"/>
            <a:ext cx="5486400" cy="2057400"/>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3375C"/>
                </a:solidFill>
              </a:defRPr>
            </a:pPr>
            <a:r>
              <a:rPr dirty="0"/>
              <a:t>Demand &amp; revenue</a:t>
            </a:r>
          </a:p>
          <a:p>
            <a:pPr>
              <a:spcBef>
                <a:spcPts val="500"/>
              </a:spcBef>
              <a:defRPr sz="1100">
                <a:solidFill>
                  <a:srgbClr val="26303A"/>
                </a:solidFill>
              </a:defRPr>
            </a:pPr>
            <a:r>
              <a:rPr sz="1400" dirty="0"/>
              <a:t>12K tests and 3.79K patients underpin 91.16M revenue.</a:t>
            </a:r>
          </a:p>
          <a:p>
            <a:pPr>
              <a:spcBef>
                <a:spcPts val="500"/>
              </a:spcBef>
              <a:defRPr sz="1100">
                <a:solidFill>
                  <a:srgbClr val="26303A"/>
                </a:solidFill>
              </a:defRPr>
            </a:pPr>
            <a:r>
              <a:rPr sz="1400" dirty="0"/>
              <a:t>South West, Lagos and South are the main regional demand </a:t>
            </a:r>
            <a:r>
              <a:rPr sz="1400" dirty="0" err="1"/>
              <a:t>centres</a:t>
            </a:r>
            <a:r>
              <a:rPr sz="1400" dirty="0"/>
              <a:t>.</a:t>
            </a:r>
          </a:p>
          <a:p>
            <a:pPr>
              <a:spcBef>
                <a:spcPts val="500"/>
              </a:spcBef>
              <a:defRPr sz="1100">
                <a:solidFill>
                  <a:srgbClr val="26303A"/>
                </a:solidFill>
              </a:defRPr>
            </a:pPr>
            <a:r>
              <a:rPr sz="1400" dirty="0"/>
              <a:t>Clinical Chemistry, Molecular Diagnostics and Hormonal Assay generate about 73% of total revenue.</a:t>
            </a:r>
          </a:p>
        </p:txBody>
      </p:sp>
      <p:sp>
        <p:nvSpPr>
          <p:cNvPr id="7" name="Rounded Rectangle 6"/>
          <p:cNvSpPr/>
          <p:nvPr/>
        </p:nvSpPr>
        <p:spPr>
          <a:xfrm>
            <a:off x="6217920" y="914400"/>
            <a:ext cx="5440680" cy="2057400"/>
          </a:xfrm>
          <a:prstGeom prst="roundRect">
            <a:avLst/>
          </a:prstGeom>
          <a:solidFill>
            <a:srgbClr val="EDF8F0"/>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197736"/>
                </a:solidFill>
              </a:defRPr>
            </a:pPr>
            <a:r>
              <a:rPr dirty="0"/>
              <a:t>Operational performance</a:t>
            </a:r>
          </a:p>
          <a:p>
            <a:pPr>
              <a:spcBef>
                <a:spcPts val="500"/>
              </a:spcBef>
              <a:defRPr sz="1100">
                <a:solidFill>
                  <a:srgbClr val="26303A"/>
                </a:solidFill>
              </a:defRPr>
            </a:pPr>
            <a:r>
              <a:rPr sz="1400" dirty="0"/>
              <a:t>Completion is 90.13%, with 6.46% inconclusive and 3.42% cancelled.</a:t>
            </a:r>
          </a:p>
          <a:p>
            <a:pPr>
              <a:spcBef>
                <a:spcPts val="500"/>
              </a:spcBef>
              <a:defRPr sz="1100">
                <a:solidFill>
                  <a:srgbClr val="26303A"/>
                </a:solidFill>
              </a:defRPr>
            </a:pPr>
            <a:r>
              <a:rPr sz="1400" dirty="0"/>
              <a:t>Average turnaround time is 1.04 days overall.</a:t>
            </a:r>
          </a:p>
          <a:p>
            <a:pPr>
              <a:spcBef>
                <a:spcPts val="500"/>
              </a:spcBef>
              <a:defRPr sz="1100">
                <a:solidFill>
                  <a:srgbClr val="26303A"/>
                </a:solidFill>
              </a:defRPr>
            </a:pPr>
            <a:r>
              <a:rPr sz="1400" dirty="0"/>
              <a:t>Histopathology is the slowest category at 3.0 days.</a:t>
            </a:r>
          </a:p>
        </p:txBody>
      </p:sp>
      <p:sp>
        <p:nvSpPr>
          <p:cNvPr id="8" name="Rounded Rectangle 7"/>
          <p:cNvSpPr/>
          <p:nvPr/>
        </p:nvSpPr>
        <p:spPr>
          <a:xfrm>
            <a:off x="502920" y="3246120"/>
            <a:ext cx="5486400" cy="2057400"/>
          </a:xfrm>
          <a:prstGeom prst="roundRect">
            <a:avLst/>
          </a:prstGeom>
          <a:solidFill>
            <a:srgbClr val="E8F1F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235B8F"/>
                </a:solidFill>
              </a:defRPr>
            </a:pPr>
            <a:r>
              <a:rPr dirty="0"/>
              <a:t>Commercial opportunities</a:t>
            </a:r>
          </a:p>
          <a:p>
            <a:pPr>
              <a:spcBef>
                <a:spcPts val="500"/>
              </a:spcBef>
              <a:defRPr sz="1100">
                <a:solidFill>
                  <a:srgbClr val="26303A"/>
                </a:solidFill>
              </a:defRPr>
            </a:pPr>
            <a:r>
              <a:rPr sz="1400" dirty="0"/>
              <a:t>Walk-in customers generate the largest displayed revenue at 33.0M.</a:t>
            </a:r>
          </a:p>
          <a:p>
            <a:pPr>
              <a:spcBef>
                <a:spcPts val="500"/>
              </a:spcBef>
              <a:defRPr sz="1100">
                <a:solidFill>
                  <a:srgbClr val="26303A"/>
                </a:solidFill>
              </a:defRPr>
            </a:pPr>
            <a:r>
              <a:rPr sz="1400" dirty="0"/>
              <a:t>HMO and Corporate are meaningful secondary revenue streams.</a:t>
            </a:r>
          </a:p>
          <a:p>
            <a:pPr>
              <a:spcBef>
                <a:spcPts val="500"/>
              </a:spcBef>
              <a:defRPr sz="1100">
                <a:solidFill>
                  <a:srgbClr val="26303A"/>
                </a:solidFill>
              </a:defRPr>
            </a:pPr>
            <a:r>
              <a:rPr sz="1400" dirty="0"/>
              <a:t>Leading referring clinicians are closely grouped in the displayed revenue ranking.</a:t>
            </a:r>
          </a:p>
        </p:txBody>
      </p:sp>
      <p:sp>
        <p:nvSpPr>
          <p:cNvPr id="9" name="Rounded Rectangle 8"/>
          <p:cNvSpPr/>
          <p:nvPr/>
        </p:nvSpPr>
        <p:spPr>
          <a:xfrm>
            <a:off x="6217920" y="3246120"/>
            <a:ext cx="5440680" cy="2057400"/>
          </a:xfrm>
          <a:prstGeom prst="roundRect">
            <a:avLst/>
          </a:prstGeom>
          <a:solidFill>
            <a:srgbClr val="FFF8E8"/>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46304" tIns="91440" rIns="109728" rtlCol="0" anchor="ctr"/>
          <a:lstStyle/>
          <a:p>
            <a:pPr algn="ctr">
              <a:defRPr sz="1400" b="1">
                <a:solidFill>
                  <a:srgbClr val="A67014"/>
                </a:solidFill>
              </a:defRPr>
            </a:pPr>
            <a:r>
              <a:rPr dirty="0"/>
              <a:t>Priority actions</a:t>
            </a:r>
          </a:p>
          <a:p>
            <a:pPr>
              <a:spcBef>
                <a:spcPts val="500"/>
              </a:spcBef>
              <a:defRPr sz="1100">
                <a:solidFill>
                  <a:srgbClr val="26303A"/>
                </a:solidFill>
              </a:defRPr>
            </a:pPr>
            <a:r>
              <a:rPr sz="1400" dirty="0"/>
              <a:t>Improve long-turnaround services and reduce inconclusive/cancelled tests.</a:t>
            </a:r>
          </a:p>
          <a:p>
            <a:pPr>
              <a:spcBef>
                <a:spcPts val="500"/>
              </a:spcBef>
              <a:defRPr sz="1100">
                <a:solidFill>
                  <a:srgbClr val="26303A"/>
                </a:solidFill>
              </a:defRPr>
            </a:pPr>
            <a:r>
              <a:rPr sz="1400" dirty="0"/>
              <a:t>Protect high-revenue/high-profit service categories.</a:t>
            </a:r>
          </a:p>
          <a:p>
            <a:pPr>
              <a:spcBef>
                <a:spcPts val="500"/>
              </a:spcBef>
              <a:defRPr sz="1100">
                <a:solidFill>
                  <a:srgbClr val="26303A"/>
                </a:solidFill>
              </a:defRPr>
            </a:pPr>
            <a:r>
              <a:rPr sz="1400" dirty="0"/>
              <a:t>Investigate lower-volume regions and validate dashboard measures where visuals do not answer the business question reliably.</a:t>
            </a:r>
          </a:p>
        </p:txBody>
      </p:sp>
      <p:sp>
        <p:nvSpPr>
          <p:cNvPr id="12" name="Slide Number Placeholder 11">
            <a:extLst>
              <a:ext uri="{FF2B5EF4-FFF2-40B4-BE49-F238E27FC236}">
                <a16:creationId xmlns:a16="http://schemas.microsoft.com/office/drawing/2014/main" id="{3935C49E-A4A3-EC10-8947-5CBA87647593}"/>
              </a:ext>
            </a:extLst>
          </p:cNvPr>
          <p:cNvSpPr>
            <a:spLocks noGrp="1"/>
          </p:cNvSpPr>
          <p:nvPr>
            <p:ph type="sldNum" sz="quarter" idx="12"/>
          </p:nvPr>
        </p:nvSpPr>
        <p:spPr/>
        <p:txBody>
          <a:bodyPr/>
          <a:lstStyle/>
          <a:p>
            <a:fld id="{C1FF6DA9-008F-8B48-92A6-B652298478BF}"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a:p>
            <a:pPr algn="ctr"/>
            <a:endParaRPr dirty="0"/>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9875520" cy="438912"/>
          </a:xfrm>
          <a:prstGeom prst="rect">
            <a:avLst/>
          </a:prstGeom>
          <a:noFill/>
        </p:spPr>
        <p:txBody>
          <a:bodyPr wrap="none">
            <a:spAutoFit/>
          </a:bodyPr>
          <a:lstStyle/>
          <a:p>
            <a:pPr>
              <a:defRPr sz="2300" b="1">
                <a:solidFill>
                  <a:srgbClr val="FFFFFF"/>
                </a:solidFill>
              </a:defRPr>
            </a:pPr>
            <a:r>
              <a:t>Overall Recommendations</a:t>
            </a:r>
          </a:p>
        </p:txBody>
      </p:sp>
      <p:sp>
        <p:nvSpPr>
          <p:cNvPr id="6" name="Rounded Rectangle 5"/>
          <p:cNvSpPr/>
          <p:nvPr/>
        </p:nvSpPr>
        <p:spPr>
          <a:xfrm>
            <a:off x="594360" y="914400"/>
            <a:ext cx="10972800" cy="658368"/>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64592" tIns="64008" rtlCol="0" anchor="ctr"/>
          <a:lstStyle/>
          <a:p>
            <a:pPr algn="ctr">
              <a:defRPr sz="1250" b="1">
                <a:solidFill>
                  <a:srgbClr val="13375C"/>
                </a:solidFill>
              </a:defRPr>
            </a:pPr>
            <a:r>
              <a:rPr dirty="0"/>
              <a:t>1. Protect the core revenue engine</a:t>
            </a:r>
          </a:p>
          <a:p>
            <a:pPr>
              <a:defRPr sz="1000">
                <a:solidFill>
                  <a:srgbClr val="26303A"/>
                </a:solidFill>
              </a:defRPr>
            </a:pPr>
            <a:r>
              <a:rPr sz="1400" dirty="0"/>
              <a:t>Maintain capacity, quality and uptime in Clinical Chemistry, Molecular Diagnostics and Hormonal Assay—the three largest revenue categories.</a:t>
            </a:r>
          </a:p>
        </p:txBody>
      </p:sp>
      <p:sp>
        <p:nvSpPr>
          <p:cNvPr id="7" name="Rounded Rectangle 6"/>
          <p:cNvSpPr/>
          <p:nvPr/>
        </p:nvSpPr>
        <p:spPr>
          <a:xfrm>
            <a:off x="609447" y="1682536"/>
            <a:ext cx="10972800" cy="769326"/>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64592" tIns="64008" rtlCol="0" anchor="ctr"/>
          <a:lstStyle/>
          <a:p>
            <a:pPr algn="ctr">
              <a:defRPr sz="1250" b="1">
                <a:solidFill>
                  <a:srgbClr val="13375C"/>
                </a:solidFill>
              </a:defRPr>
            </a:pPr>
            <a:r>
              <a:rPr dirty="0"/>
              <a:t>2. Reduce operational delays</a:t>
            </a:r>
          </a:p>
          <a:p>
            <a:pPr>
              <a:defRPr sz="1000">
                <a:solidFill>
                  <a:srgbClr val="26303A"/>
                </a:solidFill>
              </a:defRPr>
            </a:pPr>
            <a:r>
              <a:rPr sz="1400" dirty="0" err="1"/>
              <a:t>Prioritise</a:t>
            </a:r>
            <a:r>
              <a:rPr sz="1400" dirty="0"/>
              <a:t> Histopathology and Molecular Diagnostics for turnaround-time root-cause analysis and category-specific service targets</a:t>
            </a:r>
            <a:r>
              <a:rPr dirty="0"/>
              <a:t>.</a:t>
            </a:r>
          </a:p>
        </p:txBody>
      </p:sp>
      <p:sp>
        <p:nvSpPr>
          <p:cNvPr id="8" name="Rounded Rectangle 7"/>
          <p:cNvSpPr/>
          <p:nvPr/>
        </p:nvSpPr>
        <p:spPr>
          <a:xfrm>
            <a:off x="594360" y="2515870"/>
            <a:ext cx="10972800" cy="737322"/>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64592" tIns="64008" rtlCol="0" anchor="ctr"/>
          <a:lstStyle/>
          <a:p>
            <a:pPr algn="ctr">
              <a:defRPr sz="1250" b="1">
                <a:solidFill>
                  <a:srgbClr val="13375C"/>
                </a:solidFill>
              </a:defRPr>
            </a:pPr>
            <a:r>
              <a:rPr dirty="0"/>
              <a:t>3. Improve completion and quality</a:t>
            </a:r>
          </a:p>
          <a:p>
            <a:pPr>
              <a:defRPr sz="1000">
                <a:solidFill>
                  <a:srgbClr val="26303A"/>
                </a:solidFill>
              </a:defRPr>
            </a:pPr>
            <a:r>
              <a:rPr sz="1400" dirty="0" err="1"/>
              <a:t>Analyse</a:t>
            </a:r>
            <a:r>
              <a:rPr sz="1400" dirty="0"/>
              <a:t> the 6.46% inconclusive and 3.42% cancelled shares by branch, category and customer type.</a:t>
            </a:r>
          </a:p>
        </p:txBody>
      </p:sp>
      <p:sp>
        <p:nvSpPr>
          <p:cNvPr id="9" name="Rounded Rectangle 8"/>
          <p:cNvSpPr/>
          <p:nvPr/>
        </p:nvSpPr>
        <p:spPr>
          <a:xfrm>
            <a:off x="594360" y="3317200"/>
            <a:ext cx="10972800" cy="807334"/>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64592" tIns="64008" rtlCol="0" anchor="ctr"/>
          <a:lstStyle/>
          <a:p>
            <a:pPr algn="ctr">
              <a:defRPr sz="1250" b="1">
                <a:solidFill>
                  <a:srgbClr val="13375C"/>
                </a:solidFill>
              </a:defRPr>
            </a:pPr>
            <a:r>
              <a:rPr dirty="0"/>
              <a:t>4. Strengthen demand channels</a:t>
            </a:r>
          </a:p>
          <a:p>
            <a:pPr>
              <a:defRPr sz="1000">
                <a:solidFill>
                  <a:srgbClr val="26303A"/>
                </a:solidFill>
              </a:defRPr>
            </a:pPr>
            <a:r>
              <a:rPr sz="1400" dirty="0"/>
              <a:t>Protect Walk-in demand while expanding HMO and Corporate relationships and strengthening referral networks.</a:t>
            </a:r>
          </a:p>
        </p:txBody>
      </p:sp>
      <p:sp>
        <p:nvSpPr>
          <p:cNvPr id="10" name="Rounded Rectangle 9"/>
          <p:cNvSpPr/>
          <p:nvPr/>
        </p:nvSpPr>
        <p:spPr>
          <a:xfrm>
            <a:off x="609447" y="4188542"/>
            <a:ext cx="10972800" cy="830727"/>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64592" tIns="64008" rtlCol="0" anchor="ctr"/>
          <a:lstStyle/>
          <a:p>
            <a:pPr algn="ctr">
              <a:defRPr sz="1250" b="1">
                <a:solidFill>
                  <a:srgbClr val="13375C"/>
                </a:solidFill>
              </a:defRPr>
            </a:pPr>
            <a:r>
              <a:rPr dirty="0"/>
              <a:t>5. Investigate regional demand gaps</a:t>
            </a:r>
          </a:p>
          <a:p>
            <a:pPr>
              <a:defRPr sz="1000">
                <a:solidFill>
                  <a:srgbClr val="26303A"/>
                </a:solidFill>
              </a:defRPr>
            </a:pPr>
            <a:r>
              <a:rPr sz="1400" dirty="0"/>
              <a:t>Review North and South East for referral coverage, accessibility, branch capacity and local demand.</a:t>
            </a:r>
          </a:p>
        </p:txBody>
      </p:sp>
      <p:sp>
        <p:nvSpPr>
          <p:cNvPr id="11" name="Rounded Rectangle 10"/>
          <p:cNvSpPr/>
          <p:nvPr/>
        </p:nvSpPr>
        <p:spPr>
          <a:xfrm>
            <a:off x="594360" y="5083277"/>
            <a:ext cx="10972800" cy="973393"/>
          </a:xfrm>
          <a:prstGeom prst="roundRect">
            <a:avLst/>
          </a:prstGeom>
          <a:solidFill>
            <a:srgbClr val="FFFFFF"/>
          </a:solidFill>
          <a:ln>
            <a:solidFill>
              <a:srgbClr val="D7E1E9"/>
            </a:solidFill>
          </a:ln>
        </p:spPr>
        <p:style>
          <a:lnRef idx="1">
            <a:schemeClr val="accent1"/>
          </a:lnRef>
          <a:fillRef idx="3">
            <a:schemeClr val="accent1"/>
          </a:fillRef>
          <a:effectRef idx="2">
            <a:schemeClr val="accent1"/>
          </a:effectRef>
          <a:fontRef idx="minor">
            <a:schemeClr val="lt1"/>
          </a:fontRef>
        </p:style>
        <p:txBody>
          <a:bodyPr lIns="164592" tIns="64008" rtlCol="0" anchor="ctr"/>
          <a:lstStyle/>
          <a:p>
            <a:pPr algn="ctr">
              <a:defRPr sz="1250" b="1">
                <a:solidFill>
                  <a:srgbClr val="13375C"/>
                </a:solidFill>
              </a:defRPr>
            </a:pPr>
            <a:r>
              <a:rPr dirty="0"/>
              <a:t>6. Strengthen branch management</a:t>
            </a:r>
          </a:p>
          <a:p>
            <a:pPr>
              <a:defRPr sz="1000">
                <a:solidFill>
                  <a:srgbClr val="26303A"/>
                </a:solidFill>
              </a:defRPr>
            </a:pPr>
            <a:r>
              <a:rPr sz="1400" dirty="0"/>
              <a:t>Use tests, revenue and profit margin together to identify high-volume/high-value branches and performance gaps.</a:t>
            </a:r>
          </a:p>
        </p:txBody>
      </p:sp>
      <p:sp>
        <p:nvSpPr>
          <p:cNvPr id="15" name="Slide Number Placeholder 14">
            <a:extLst>
              <a:ext uri="{FF2B5EF4-FFF2-40B4-BE49-F238E27FC236}">
                <a16:creationId xmlns:a16="http://schemas.microsoft.com/office/drawing/2014/main" id="{6F6F7035-CB8F-F3FB-C5F0-8412D8DCA51B}"/>
              </a:ext>
            </a:extLst>
          </p:cNvPr>
          <p:cNvSpPr>
            <a:spLocks noGrp="1"/>
          </p:cNvSpPr>
          <p:nvPr>
            <p:ph type="sldNum" sz="quarter" idx="12"/>
          </p:nvPr>
        </p:nvSpPr>
        <p:spPr/>
        <p:txBody>
          <a:bodyPr/>
          <a:lstStyle/>
          <a:p>
            <a:fld id="{C1FF6DA9-008F-8B48-92A6-B652298478BF}"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9875520" cy="438912"/>
          </a:xfrm>
          <a:prstGeom prst="rect">
            <a:avLst/>
          </a:prstGeom>
          <a:noFill/>
        </p:spPr>
        <p:txBody>
          <a:bodyPr wrap="none">
            <a:spAutoFit/>
          </a:bodyPr>
          <a:lstStyle/>
          <a:p>
            <a:pPr>
              <a:defRPr sz="2300" b="1">
                <a:solidFill>
                  <a:srgbClr val="FFFFFF"/>
                </a:solidFill>
              </a:defRPr>
            </a:pPr>
            <a:r>
              <a:t>Final Dashboard — Page 1</a:t>
            </a:r>
          </a:p>
        </p:txBody>
      </p:sp>
      <p:sp>
        <p:nvSpPr>
          <p:cNvPr id="9" name="Slide Number Placeholder 8">
            <a:extLst>
              <a:ext uri="{FF2B5EF4-FFF2-40B4-BE49-F238E27FC236}">
                <a16:creationId xmlns:a16="http://schemas.microsoft.com/office/drawing/2014/main" id="{7482E45C-946E-62EB-6B6A-47109DE6574A}"/>
              </a:ext>
            </a:extLst>
          </p:cNvPr>
          <p:cNvSpPr>
            <a:spLocks noGrp="1"/>
          </p:cNvSpPr>
          <p:nvPr>
            <p:ph type="sldNum" sz="quarter" idx="12"/>
          </p:nvPr>
        </p:nvSpPr>
        <p:spPr/>
        <p:txBody>
          <a:bodyPr/>
          <a:lstStyle/>
          <a:p>
            <a:fld id="{C1FF6DA9-008F-8B48-92A6-B652298478BF}" type="slidenum">
              <a:rPr lang="en-US" smtClean="0"/>
              <a:t>22</a:t>
            </a:fld>
            <a:endParaRPr lang="en-US"/>
          </a:p>
        </p:txBody>
      </p:sp>
      <p:pic>
        <p:nvPicPr>
          <p:cNvPr id="11" name="Picture 10">
            <a:extLst>
              <a:ext uri="{FF2B5EF4-FFF2-40B4-BE49-F238E27FC236}">
                <a16:creationId xmlns:a16="http://schemas.microsoft.com/office/drawing/2014/main" id="{368D3AA1-FF98-B3B6-442D-9F0E4F78F805}"/>
              </a:ext>
            </a:extLst>
          </p:cNvPr>
          <p:cNvPicPr>
            <a:picLocks noChangeAspect="1"/>
          </p:cNvPicPr>
          <p:nvPr/>
        </p:nvPicPr>
        <p:blipFill>
          <a:blip r:embed="rId2"/>
          <a:stretch>
            <a:fillRect/>
          </a:stretch>
        </p:blipFill>
        <p:spPr>
          <a:xfrm>
            <a:off x="315729" y="825910"/>
            <a:ext cx="11560542" cy="587235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9875520" cy="438912"/>
          </a:xfrm>
          <a:prstGeom prst="rect">
            <a:avLst/>
          </a:prstGeom>
          <a:noFill/>
        </p:spPr>
        <p:txBody>
          <a:bodyPr wrap="none">
            <a:spAutoFit/>
          </a:bodyPr>
          <a:lstStyle/>
          <a:p>
            <a:pPr>
              <a:defRPr sz="2300" b="1">
                <a:solidFill>
                  <a:srgbClr val="FFFFFF"/>
                </a:solidFill>
              </a:defRPr>
            </a:pPr>
            <a:r>
              <a:t>Final Dashboard — Page 2</a:t>
            </a:r>
          </a:p>
        </p:txBody>
      </p:sp>
      <p:sp>
        <p:nvSpPr>
          <p:cNvPr id="9" name="Slide Number Placeholder 8">
            <a:extLst>
              <a:ext uri="{FF2B5EF4-FFF2-40B4-BE49-F238E27FC236}">
                <a16:creationId xmlns:a16="http://schemas.microsoft.com/office/drawing/2014/main" id="{23959C0C-6CEE-412E-408C-6E626A4A5B6F}"/>
              </a:ext>
            </a:extLst>
          </p:cNvPr>
          <p:cNvSpPr>
            <a:spLocks noGrp="1"/>
          </p:cNvSpPr>
          <p:nvPr>
            <p:ph type="sldNum" sz="quarter" idx="12"/>
          </p:nvPr>
        </p:nvSpPr>
        <p:spPr/>
        <p:txBody>
          <a:bodyPr/>
          <a:lstStyle/>
          <a:p>
            <a:fld id="{C1FF6DA9-008F-8B48-92A6-B652298478BF}" type="slidenum">
              <a:rPr lang="en-US" smtClean="0"/>
              <a:t>23</a:t>
            </a:fld>
            <a:endParaRPr lang="en-US"/>
          </a:p>
        </p:txBody>
      </p:sp>
      <p:pic>
        <p:nvPicPr>
          <p:cNvPr id="11" name="Picture 10">
            <a:extLst>
              <a:ext uri="{FF2B5EF4-FFF2-40B4-BE49-F238E27FC236}">
                <a16:creationId xmlns:a16="http://schemas.microsoft.com/office/drawing/2014/main" id="{F4AB65BB-8449-8CBE-59D7-63740203F6EF}"/>
              </a:ext>
            </a:extLst>
          </p:cNvPr>
          <p:cNvPicPr>
            <a:picLocks noChangeAspect="1"/>
          </p:cNvPicPr>
          <p:nvPr/>
        </p:nvPicPr>
        <p:blipFill>
          <a:blip r:embed="rId2"/>
          <a:stretch>
            <a:fillRect/>
          </a:stretch>
        </p:blipFill>
        <p:spPr>
          <a:xfrm>
            <a:off x="304298" y="845573"/>
            <a:ext cx="11583404" cy="584887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3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91440"/>
            <a:ext cx="9875520" cy="438912"/>
          </a:xfrm>
          <a:prstGeom prst="rect">
            <a:avLst/>
          </a:prstGeom>
          <a:noFill/>
        </p:spPr>
        <p:txBody>
          <a:bodyPr wrap="none">
            <a:spAutoFit/>
          </a:bodyPr>
          <a:lstStyle/>
          <a:p>
            <a:pPr>
              <a:defRPr sz="2300" b="1">
                <a:solidFill>
                  <a:srgbClr val="FFFFFF"/>
                </a:solidFill>
              </a:defRPr>
            </a:pPr>
            <a:r>
              <a:t>Final Dashboard — Page 3</a:t>
            </a:r>
          </a:p>
        </p:txBody>
      </p:sp>
      <p:sp>
        <p:nvSpPr>
          <p:cNvPr id="9" name="Slide Number Placeholder 8">
            <a:extLst>
              <a:ext uri="{FF2B5EF4-FFF2-40B4-BE49-F238E27FC236}">
                <a16:creationId xmlns:a16="http://schemas.microsoft.com/office/drawing/2014/main" id="{683A1A98-232B-05A5-72D2-7EAC0CBB6930}"/>
              </a:ext>
            </a:extLst>
          </p:cNvPr>
          <p:cNvSpPr>
            <a:spLocks noGrp="1"/>
          </p:cNvSpPr>
          <p:nvPr>
            <p:ph type="sldNum" sz="quarter" idx="12"/>
          </p:nvPr>
        </p:nvSpPr>
        <p:spPr/>
        <p:txBody>
          <a:bodyPr/>
          <a:lstStyle/>
          <a:p>
            <a:fld id="{C1FF6DA9-008F-8B48-92A6-B652298478BF}" type="slidenum">
              <a:rPr lang="en-US" smtClean="0"/>
              <a:t>24</a:t>
            </a:fld>
            <a:endParaRPr lang="en-US"/>
          </a:p>
        </p:txBody>
      </p:sp>
      <p:pic>
        <p:nvPicPr>
          <p:cNvPr id="11" name="Picture 10">
            <a:extLst>
              <a:ext uri="{FF2B5EF4-FFF2-40B4-BE49-F238E27FC236}">
                <a16:creationId xmlns:a16="http://schemas.microsoft.com/office/drawing/2014/main" id="{E2641F85-DD02-8AE4-639C-EFA88CC1FF45}"/>
              </a:ext>
            </a:extLst>
          </p:cNvPr>
          <p:cNvPicPr>
            <a:picLocks noChangeAspect="1"/>
          </p:cNvPicPr>
          <p:nvPr/>
        </p:nvPicPr>
        <p:blipFill>
          <a:blip r:embed="rId2"/>
          <a:stretch>
            <a:fillRect/>
          </a:stretch>
        </p:blipFill>
        <p:spPr>
          <a:xfrm>
            <a:off x="323350" y="884903"/>
            <a:ext cx="11545300" cy="58095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296</TotalTime>
  <Words>2679</Words>
  <Application>Microsoft Office PowerPoint</Application>
  <PresentationFormat>Widescreen</PresentationFormat>
  <Paragraphs>260</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Mbalenhle Dube</cp:lastModifiedBy>
  <cp:revision>8</cp:revision>
  <dcterms:created xsi:type="dcterms:W3CDTF">2013-01-27T09:14:16Z</dcterms:created>
  <dcterms:modified xsi:type="dcterms:W3CDTF">2026-10-04T17:53:41Z</dcterms:modified>
  <cp:category/>
</cp:coreProperties>
</file>